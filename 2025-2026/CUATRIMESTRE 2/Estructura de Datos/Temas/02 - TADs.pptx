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4"/>
  </p:sldMasterIdLst>
  <p:notesMasterIdLst>
    <p:notesMasterId r:id="rId37"/>
  </p:notesMasterIdLst>
  <p:sldIdLst>
    <p:sldId id="259" r:id="rId5"/>
    <p:sldId id="309" r:id="rId6"/>
    <p:sldId id="321" r:id="rId7"/>
    <p:sldId id="322" r:id="rId8"/>
    <p:sldId id="323" r:id="rId9"/>
    <p:sldId id="324" r:id="rId10"/>
    <p:sldId id="329" r:id="rId11"/>
    <p:sldId id="328" r:id="rId12"/>
    <p:sldId id="330" r:id="rId13"/>
    <p:sldId id="346" r:id="rId14"/>
    <p:sldId id="347" r:id="rId15"/>
    <p:sldId id="348" r:id="rId16"/>
    <p:sldId id="331" r:id="rId17"/>
    <p:sldId id="332" r:id="rId18"/>
    <p:sldId id="334" r:id="rId19"/>
    <p:sldId id="349" r:id="rId20"/>
    <p:sldId id="325" r:id="rId21"/>
    <p:sldId id="333" r:id="rId22"/>
    <p:sldId id="326" r:id="rId23"/>
    <p:sldId id="335" r:id="rId24"/>
    <p:sldId id="336" r:id="rId25"/>
    <p:sldId id="340" r:id="rId26"/>
    <p:sldId id="337" r:id="rId27"/>
    <p:sldId id="338" r:id="rId28"/>
    <p:sldId id="339" r:id="rId29"/>
    <p:sldId id="341" r:id="rId30"/>
    <p:sldId id="342" r:id="rId31"/>
    <p:sldId id="298" r:id="rId32"/>
    <p:sldId id="345" r:id="rId33"/>
    <p:sldId id="343" r:id="rId34"/>
    <p:sldId id="344" r:id="rId35"/>
    <p:sldId id="350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CC8DB-5C5B-4B83-BAB2-2CBFD5C9F979}" v="1" dt="2025-02-05T06:37:37.9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13" autoAdjust="0"/>
    <p:restoredTop sz="91721" autoAdjust="0"/>
  </p:normalViewPr>
  <p:slideViewPr>
    <p:cSldViewPr snapToGrid="0" snapToObjects="1">
      <p:cViewPr varScale="1">
        <p:scale>
          <a:sx n="64" d="100"/>
          <a:sy n="64" d="100"/>
        </p:scale>
        <p:origin x="1516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chez Alonso Salvador" userId="7df3ed63-45ed-4b42-bad2-9bbf3f4468fb" providerId="ADAL" clId="{5F759B06-3D17-4DB4-B28A-2F76AB9F9396}"/>
    <pc:docChg chg="modSld">
      <pc:chgData name="Sánchez Alonso Salvador" userId="7df3ed63-45ed-4b42-bad2-9bbf3f4468fb" providerId="ADAL" clId="{5F759B06-3D17-4DB4-B28A-2F76AB9F9396}" dt="2024-03-04T21:11:38.562" v="7" actId="20577"/>
      <pc:docMkLst>
        <pc:docMk/>
      </pc:docMkLst>
      <pc:sldChg chg="modSp mod">
        <pc:chgData name="Sánchez Alonso Salvador" userId="7df3ed63-45ed-4b42-bad2-9bbf3f4468fb" providerId="ADAL" clId="{5F759B06-3D17-4DB4-B28A-2F76AB9F9396}" dt="2024-03-04T21:11:38.562" v="7" actId="20577"/>
        <pc:sldMkLst>
          <pc:docMk/>
          <pc:sldMk cId="0" sldId="259"/>
        </pc:sldMkLst>
      </pc:sldChg>
    </pc:docChg>
  </pc:docChgLst>
  <pc:docChgLst>
    <pc:chgData name="Sánchez Alonso Salvador" userId="7df3ed63-45ed-4b42-bad2-9bbf3f4468fb" providerId="ADAL" clId="{E6C969F1-1362-49B6-98B3-7C428BC51F39}"/>
    <pc:docChg chg="undo custSel modSld">
      <pc:chgData name="Sánchez Alonso Salvador" userId="7df3ed63-45ed-4b42-bad2-9bbf3f4468fb" providerId="ADAL" clId="{E6C969F1-1362-49B6-98B3-7C428BC51F39}" dt="2024-02-07T19:54:26.871" v="69" actId="20577"/>
      <pc:docMkLst>
        <pc:docMk/>
      </pc:docMkLst>
      <pc:sldChg chg="modSp mod">
        <pc:chgData name="Sánchez Alonso Salvador" userId="7df3ed63-45ed-4b42-bad2-9bbf3f4468fb" providerId="ADAL" clId="{E6C969F1-1362-49B6-98B3-7C428BC51F39}" dt="2024-02-07T19:54:26.871" v="69" actId="20577"/>
        <pc:sldMkLst>
          <pc:docMk/>
          <pc:sldMk cId="3746250736" sldId="331"/>
        </pc:sldMkLst>
      </pc:sldChg>
      <pc:sldChg chg="modSp mod">
        <pc:chgData name="Sánchez Alonso Salvador" userId="7df3ed63-45ed-4b42-bad2-9bbf3f4468fb" providerId="ADAL" clId="{E6C969F1-1362-49B6-98B3-7C428BC51F39}" dt="2024-02-07T19:53:50.742" v="41" actId="20577"/>
        <pc:sldMkLst>
          <pc:docMk/>
          <pc:sldMk cId="1453142590" sldId="332"/>
        </pc:sldMkLst>
      </pc:sldChg>
      <pc:sldChg chg="modSp mod">
        <pc:chgData name="Sánchez Alonso Salvador" userId="7df3ed63-45ed-4b42-bad2-9bbf3f4468fb" providerId="ADAL" clId="{E6C969F1-1362-49B6-98B3-7C428BC51F39}" dt="2024-02-07T19:52:46.442" v="15" actId="20577"/>
        <pc:sldMkLst>
          <pc:docMk/>
          <pc:sldMk cId="2941310120" sldId="349"/>
        </pc:sldMkLst>
      </pc:sldChg>
    </pc:docChg>
  </pc:docChgLst>
  <pc:docChgLst>
    <pc:chgData name="Sánchez Alonso Salvador" userId="7df3ed63-45ed-4b42-bad2-9bbf3f4468fb" providerId="ADAL" clId="{34712591-DFEE-41EE-8669-568CA203C6C3}"/>
    <pc:docChg chg="undo redo custSel addSld modSld sldOrd">
      <pc:chgData name="Sánchez Alonso Salvador" userId="7df3ed63-45ed-4b42-bad2-9bbf3f4468fb" providerId="ADAL" clId="{34712591-DFEE-41EE-8669-568CA203C6C3}" dt="2024-01-26T10:39:38.464" v="551" actId="1076"/>
      <pc:docMkLst>
        <pc:docMk/>
      </pc:docMkLst>
      <pc:sldChg chg="modSp mod">
        <pc:chgData name="Sánchez Alonso Salvador" userId="7df3ed63-45ed-4b42-bad2-9bbf3f4468fb" providerId="ADAL" clId="{34712591-DFEE-41EE-8669-568CA203C6C3}" dt="2024-01-26T10:36:18.024" v="515" actId="20577"/>
        <pc:sldMkLst>
          <pc:docMk/>
          <pc:sldMk cId="3936679155" sldId="321"/>
        </pc:sldMkLst>
      </pc:sldChg>
      <pc:sldChg chg="modSp mod">
        <pc:chgData name="Sánchez Alonso Salvador" userId="7df3ed63-45ed-4b42-bad2-9bbf3f4468fb" providerId="ADAL" clId="{34712591-DFEE-41EE-8669-568CA203C6C3}" dt="2024-01-23T17:46:55.021" v="28" actId="20577"/>
        <pc:sldMkLst>
          <pc:docMk/>
          <pc:sldMk cId="1979444941" sldId="324"/>
        </pc:sldMkLst>
      </pc:sldChg>
      <pc:sldChg chg="modSp mod">
        <pc:chgData name="Sánchez Alonso Salvador" userId="7df3ed63-45ed-4b42-bad2-9bbf3f4468fb" providerId="ADAL" clId="{34712591-DFEE-41EE-8669-568CA203C6C3}" dt="2024-01-23T17:59:59.471" v="378" actId="20577"/>
        <pc:sldMkLst>
          <pc:docMk/>
          <pc:sldMk cId="1946535284" sldId="326"/>
        </pc:sldMkLst>
      </pc:sldChg>
      <pc:sldChg chg="modSp mod">
        <pc:chgData name="Sánchez Alonso Salvador" userId="7df3ed63-45ed-4b42-bad2-9bbf3f4468fb" providerId="ADAL" clId="{34712591-DFEE-41EE-8669-568CA203C6C3}" dt="2024-01-23T17:56:28.992" v="325" actId="1076"/>
        <pc:sldMkLst>
          <pc:docMk/>
          <pc:sldMk cId="395383677" sldId="328"/>
        </pc:sldMkLst>
      </pc:sldChg>
      <pc:sldChg chg="modSp mod">
        <pc:chgData name="Sánchez Alonso Salvador" userId="7df3ed63-45ed-4b42-bad2-9bbf3f4468fb" providerId="ADAL" clId="{34712591-DFEE-41EE-8669-568CA203C6C3}" dt="2024-01-23T17:48:00.718" v="29" actId="113"/>
        <pc:sldMkLst>
          <pc:docMk/>
          <pc:sldMk cId="2375303836" sldId="329"/>
        </pc:sldMkLst>
      </pc:sldChg>
      <pc:sldChg chg="modSp mod">
        <pc:chgData name="Sánchez Alonso Salvador" userId="7df3ed63-45ed-4b42-bad2-9bbf3f4468fb" providerId="ADAL" clId="{34712591-DFEE-41EE-8669-568CA203C6C3}" dt="2024-01-23T17:59:40.136" v="375" actId="6549"/>
        <pc:sldMkLst>
          <pc:docMk/>
          <pc:sldMk cId="2808646301" sldId="333"/>
        </pc:sldMkLst>
      </pc:sldChg>
      <pc:sldChg chg="addSp modSp mod">
        <pc:chgData name="Sánchez Alonso Salvador" userId="7df3ed63-45ed-4b42-bad2-9bbf3f4468fb" providerId="ADAL" clId="{34712591-DFEE-41EE-8669-568CA203C6C3}" dt="2024-01-23T18:03:42.623" v="413" actId="123"/>
        <pc:sldMkLst>
          <pc:docMk/>
          <pc:sldMk cId="4143226283" sldId="334"/>
        </pc:sldMkLst>
      </pc:sldChg>
      <pc:sldChg chg="modSp mod">
        <pc:chgData name="Sánchez Alonso Salvador" userId="7df3ed63-45ed-4b42-bad2-9bbf3f4468fb" providerId="ADAL" clId="{34712591-DFEE-41EE-8669-568CA203C6C3}" dt="2024-01-26T10:37:45.389" v="517" actId="113"/>
        <pc:sldMkLst>
          <pc:docMk/>
          <pc:sldMk cId="64986948" sldId="335"/>
        </pc:sldMkLst>
      </pc:sldChg>
      <pc:sldChg chg="modSp mod">
        <pc:chgData name="Sánchez Alonso Salvador" userId="7df3ed63-45ed-4b42-bad2-9bbf3f4468fb" providerId="ADAL" clId="{34712591-DFEE-41EE-8669-568CA203C6C3}" dt="2024-01-26T10:37:53.547" v="519" actId="113"/>
        <pc:sldMkLst>
          <pc:docMk/>
          <pc:sldMk cId="859628575" sldId="336"/>
        </pc:sldMkLst>
      </pc:sldChg>
      <pc:sldChg chg="modSp mod">
        <pc:chgData name="Sánchez Alonso Salvador" userId="7df3ed63-45ed-4b42-bad2-9bbf3f4468fb" providerId="ADAL" clId="{34712591-DFEE-41EE-8669-568CA203C6C3}" dt="2024-01-26T10:39:01.382" v="531" actId="20577"/>
        <pc:sldMkLst>
          <pc:docMk/>
          <pc:sldMk cId="1365072960" sldId="338"/>
        </pc:sldMkLst>
      </pc:sldChg>
      <pc:sldChg chg="addSp modSp mod">
        <pc:chgData name="Sánchez Alonso Salvador" userId="7df3ed63-45ed-4b42-bad2-9bbf3f4468fb" providerId="ADAL" clId="{34712591-DFEE-41EE-8669-568CA203C6C3}" dt="2024-01-26T10:39:38.464" v="551" actId="1076"/>
        <pc:sldMkLst>
          <pc:docMk/>
          <pc:sldMk cId="3324601351" sldId="339"/>
        </pc:sldMkLst>
      </pc:sldChg>
      <pc:sldChg chg="modSp modAnim">
        <pc:chgData name="Sánchez Alonso Salvador" userId="7df3ed63-45ed-4b42-bad2-9bbf3f4468fb" providerId="ADAL" clId="{34712591-DFEE-41EE-8669-568CA203C6C3}" dt="2024-01-26T10:39:36.143" v="549" actId="20577"/>
        <pc:sldMkLst>
          <pc:docMk/>
          <pc:sldMk cId="4124184863" sldId="341"/>
        </pc:sldMkLst>
      </pc:sldChg>
      <pc:sldChg chg="modSp mod">
        <pc:chgData name="Sánchez Alonso Salvador" userId="7df3ed63-45ed-4b42-bad2-9bbf3f4468fb" providerId="ADAL" clId="{34712591-DFEE-41EE-8669-568CA203C6C3}" dt="2024-01-23T18:01:05.623" v="387" actId="20577"/>
        <pc:sldMkLst>
          <pc:docMk/>
          <pc:sldMk cId="4098185271" sldId="342"/>
        </pc:sldMkLst>
      </pc:sldChg>
      <pc:sldChg chg="modSp mod">
        <pc:chgData name="Sánchez Alonso Salvador" userId="7df3ed63-45ed-4b42-bad2-9bbf3f4468fb" providerId="ADAL" clId="{34712591-DFEE-41EE-8669-568CA203C6C3}" dt="2024-01-23T18:01:56.989" v="389" actId="113"/>
        <pc:sldMkLst>
          <pc:docMk/>
          <pc:sldMk cId="1249052484" sldId="343"/>
        </pc:sldMkLst>
      </pc:sldChg>
      <pc:sldChg chg="modSp mod">
        <pc:chgData name="Sánchez Alonso Salvador" userId="7df3ed63-45ed-4b42-bad2-9bbf3f4468fb" providerId="ADAL" clId="{34712591-DFEE-41EE-8669-568CA203C6C3}" dt="2024-01-23T18:02:05.960" v="391" actId="113"/>
        <pc:sldMkLst>
          <pc:docMk/>
          <pc:sldMk cId="4111597589" sldId="344"/>
        </pc:sldMkLst>
      </pc:sldChg>
      <pc:sldChg chg="modSp mod">
        <pc:chgData name="Sánchez Alonso Salvador" userId="7df3ed63-45ed-4b42-bad2-9bbf3f4468fb" providerId="ADAL" clId="{34712591-DFEE-41EE-8669-568CA203C6C3}" dt="2024-01-23T18:02:00.269" v="390" actId="113"/>
        <pc:sldMkLst>
          <pc:docMk/>
          <pc:sldMk cId="1914722585" sldId="345"/>
        </pc:sldMkLst>
      </pc:sldChg>
      <pc:sldChg chg="addSp delSp modSp mod">
        <pc:chgData name="Sánchez Alonso Salvador" userId="7df3ed63-45ed-4b42-bad2-9bbf3f4468fb" providerId="ADAL" clId="{34712591-DFEE-41EE-8669-568CA203C6C3}" dt="2024-01-23T17:57:46.664" v="337" actId="1076"/>
        <pc:sldMkLst>
          <pc:docMk/>
          <pc:sldMk cId="1310297917" sldId="346"/>
        </pc:sldMkLst>
      </pc:sldChg>
      <pc:sldChg chg="addSp delSp modSp add mod ord modShow">
        <pc:chgData name="Sánchez Alonso Salvador" userId="7df3ed63-45ed-4b42-bad2-9bbf3f4468fb" providerId="ADAL" clId="{34712591-DFEE-41EE-8669-568CA203C6C3}" dt="2024-01-23T17:58:09.650" v="346" actId="729"/>
        <pc:sldMkLst>
          <pc:docMk/>
          <pc:sldMk cId="1224995912" sldId="347"/>
        </pc:sldMkLst>
      </pc:sldChg>
      <pc:sldChg chg="addSp delSp modSp add mod ord modShow">
        <pc:chgData name="Sánchez Alonso Salvador" userId="7df3ed63-45ed-4b42-bad2-9bbf3f4468fb" providerId="ADAL" clId="{34712591-DFEE-41EE-8669-568CA203C6C3}" dt="2024-01-23T17:58:09.650" v="346" actId="729"/>
        <pc:sldMkLst>
          <pc:docMk/>
          <pc:sldMk cId="1937679839" sldId="348"/>
        </pc:sldMkLst>
      </pc:sldChg>
      <pc:sldChg chg="addSp delSp modSp add mod ord modShow">
        <pc:chgData name="Sánchez Alonso Salvador" userId="7df3ed63-45ed-4b42-bad2-9bbf3f4468fb" providerId="ADAL" clId="{34712591-DFEE-41EE-8669-568CA203C6C3}" dt="2024-01-23T18:04:58.636" v="491" actId="121"/>
        <pc:sldMkLst>
          <pc:docMk/>
          <pc:sldMk cId="2941310120" sldId="349"/>
        </pc:sldMkLst>
      </pc:sldChg>
      <pc:sldChg chg="addSp modSp add mod">
        <pc:chgData name="Sánchez Alonso Salvador" userId="7df3ed63-45ed-4b42-bad2-9bbf3f4468fb" providerId="ADAL" clId="{34712591-DFEE-41EE-8669-568CA203C6C3}" dt="2024-01-25T23:30:05.510" v="500" actId="1076"/>
        <pc:sldMkLst>
          <pc:docMk/>
          <pc:sldMk cId="3568960275" sldId="350"/>
        </pc:sldMkLst>
      </pc:sldChg>
      <pc:sldChg chg="addSp delSp add mod">
        <pc:chgData name="Sánchez Alonso Salvador" userId="7df3ed63-45ed-4b42-bad2-9bbf3f4468fb" providerId="ADAL" clId="{34712591-DFEE-41EE-8669-568CA203C6C3}" dt="2024-01-25T23:33:28.060" v="504" actId="22"/>
        <pc:sldMkLst>
          <pc:docMk/>
          <pc:sldMk cId="920385229" sldId="351"/>
        </pc:sldMkLst>
      </pc:sldChg>
      <pc:sldChg chg="addSp delSp add mod">
        <pc:chgData name="Sánchez Alonso Salvador" userId="7df3ed63-45ed-4b42-bad2-9bbf3f4468fb" providerId="ADAL" clId="{34712591-DFEE-41EE-8669-568CA203C6C3}" dt="2024-01-25T23:35:36.655" v="507" actId="22"/>
        <pc:sldMkLst>
          <pc:docMk/>
          <pc:sldMk cId="1979733290" sldId="352"/>
        </pc:sldMkLst>
      </pc:sldChg>
      <pc:sldChg chg="addSp delSp add mod">
        <pc:chgData name="Sánchez Alonso Salvador" userId="7df3ed63-45ed-4b42-bad2-9bbf3f4468fb" providerId="ADAL" clId="{34712591-DFEE-41EE-8669-568CA203C6C3}" dt="2024-01-25T23:47:30.413" v="510" actId="22"/>
        <pc:sldMkLst>
          <pc:docMk/>
          <pc:sldMk cId="101880359" sldId="353"/>
        </pc:sldMkLst>
      </pc:sldChg>
    </pc:docChg>
  </pc:docChgLst>
  <pc:docChgLst>
    <pc:chgData name="Sánchez Alonso Salvador" userId="7df3ed63-45ed-4b42-bad2-9bbf3f4468fb" providerId="ADAL" clId="{6B3352A7-3887-49DD-87B6-DC1586C1DDA5}"/>
    <pc:docChg chg="custSel delSld modSld">
      <pc:chgData name="Sánchez Alonso Salvador" userId="7df3ed63-45ed-4b42-bad2-9bbf3f4468fb" providerId="ADAL" clId="{6B3352A7-3887-49DD-87B6-DC1586C1DDA5}" dt="2024-02-08T08:34:15.067" v="434" actId="20577"/>
      <pc:docMkLst>
        <pc:docMk/>
      </pc:docMkLst>
      <pc:sldChg chg="modSp mod">
        <pc:chgData name="Sánchez Alonso Salvador" userId="7df3ed63-45ed-4b42-bad2-9bbf3f4468fb" providerId="ADAL" clId="{6B3352A7-3887-49DD-87B6-DC1586C1DDA5}" dt="2024-02-08T08:34:15.067" v="434" actId="20577"/>
        <pc:sldMkLst>
          <pc:docMk/>
          <pc:sldMk cId="1249052484" sldId="343"/>
        </pc:sldMkLst>
      </pc:sldChg>
      <pc:sldChg chg="modSp mod">
        <pc:chgData name="Sánchez Alonso Salvador" userId="7df3ed63-45ed-4b42-bad2-9bbf3f4468fb" providerId="ADAL" clId="{6B3352A7-3887-49DD-87B6-DC1586C1DDA5}" dt="2024-02-08T08:33:54.034" v="425" actId="20577"/>
        <pc:sldMkLst>
          <pc:docMk/>
          <pc:sldMk cId="4111597589" sldId="344"/>
        </pc:sldMkLst>
      </pc:sldChg>
      <pc:sldChg chg="modSp mod">
        <pc:chgData name="Sánchez Alonso Salvador" userId="7df3ed63-45ed-4b42-bad2-9bbf3f4468fb" providerId="ADAL" clId="{6B3352A7-3887-49DD-87B6-DC1586C1DDA5}" dt="2024-02-08T08:34:02.933" v="431" actId="20577"/>
        <pc:sldMkLst>
          <pc:docMk/>
          <pc:sldMk cId="1914722585" sldId="345"/>
        </pc:sldMkLst>
      </pc:sldChg>
      <pc:sldChg chg="modSp mod modShow">
        <pc:chgData name="Sánchez Alonso Salvador" userId="7df3ed63-45ed-4b42-bad2-9bbf3f4468fb" providerId="ADAL" clId="{6B3352A7-3887-49DD-87B6-DC1586C1DDA5}" dt="2024-02-08T08:31:46.210" v="389" actId="20577"/>
        <pc:sldMkLst>
          <pc:docMk/>
          <pc:sldMk cId="1224995912" sldId="347"/>
        </pc:sldMkLst>
      </pc:sldChg>
      <pc:sldChg chg="modSp mod modShow">
        <pc:chgData name="Sánchez Alonso Salvador" userId="7df3ed63-45ed-4b42-bad2-9bbf3f4468fb" providerId="ADAL" clId="{6B3352A7-3887-49DD-87B6-DC1586C1DDA5}" dt="2024-02-08T08:32:06.269" v="393" actId="729"/>
        <pc:sldMkLst>
          <pc:docMk/>
          <pc:sldMk cId="1937679839" sldId="348"/>
        </pc:sldMkLst>
      </pc:sldChg>
      <pc:sldChg chg="modSp mod modShow">
        <pc:chgData name="Sánchez Alonso Salvador" userId="7df3ed63-45ed-4b42-bad2-9bbf3f4468fb" providerId="ADAL" clId="{6B3352A7-3887-49DD-87B6-DC1586C1DDA5}" dt="2024-02-08T08:32:37.141" v="399" actId="729"/>
        <pc:sldMkLst>
          <pc:docMk/>
          <pc:sldMk cId="2941310120" sldId="349"/>
        </pc:sldMkLst>
      </pc:sldChg>
      <pc:sldChg chg="delSp modSp mod">
        <pc:chgData name="Sánchez Alonso Salvador" userId="7df3ed63-45ed-4b42-bad2-9bbf3f4468fb" providerId="ADAL" clId="{6B3352A7-3887-49DD-87B6-DC1586C1DDA5}" dt="2024-02-08T08:33:49.649" v="423" actId="20577"/>
        <pc:sldMkLst>
          <pc:docMk/>
          <pc:sldMk cId="3568960275" sldId="350"/>
        </pc:sldMkLst>
      </pc:sldChg>
      <pc:sldChg chg="modSp del mod">
        <pc:chgData name="Sánchez Alonso Salvador" userId="7df3ed63-45ed-4b42-bad2-9bbf3f4468fb" providerId="ADAL" clId="{6B3352A7-3887-49DD-87B6-DC1586C1DDA5}" dt="2024-01-31T09:05:39.868" v="368" actId="47"/>
        <pc:sldMkLst>
          <pc:docMk/>
          <pc:sldMk cId="920385229" sldId="351"/>
        </pc:sldMkLst>
      </pc:sldChg>
      <pc:sldChg chg="modSp del mod">
        <pc:chgData name="Sánchez Alonso Salvador" userId="7df3ed63-45ed-4b42-bad2-9bbf3f4468fb" providerId="ADAL" clId="{6B3352A7-3887-49DD-87B6-DC1586C1DDA5}" dt="2024-01-31T09:05:36.147" v="367" actId="47"/>
        <pc:sldMkLst>
          <pc:docMk/>
          <pc:sldMk cId="1979733290" sldId="352"/>
        </pc:sldMkLst>
      </pc:sldChg>
      <pc:sldChg chg="modSp del mod">
        <pc:chgData name="Sánchez Alonso Salvador" userId="7df3ed63-45ed-4b42-bad2-9bbf3f4468fb" providerId="ADAL" clId="{6B3352A7-3887-49DD-87B6-DC1586C1DDA5}" dt="2024-01-31T09:05:34.305" v="366" actId="47"/>
        <pc:sldMkLst>
          <pc:docMk/>
          <pc:sldMk cId="101880359" sldId="353"/>
        </pc:sldMkLst>
      </pc:sldChg>
    </pc:docChg>
  </pc:docChgLst>
  <pc:docChgLst>
    <pc:chgData name="Sánchez Alonso Salvador" userId="7df3ed63-45ed-4b42-bad2-9bbf3f4468fb" providerId="ADAL" clId="{9D7CC8DB-5C5B-4B83-BAB2-2CBFD5C9F979}"/>
    <pc:docChg chg="undo custSel modSld">
      <pc:chgData name="Sánchez Alonso Salvador" userId="7df3ed63-45ed-4b42-bad2-9bbf3f4468fb" providerId="ADAL" clId="{9D7CC8DB-5C5B-4B83-BAB2-2CBFD5C9F979}" dt="2025-02-05T06:38:20.124" v="5" actId="1036"/>
      <pc:docMkLst>
        <pc:docMk/>
      </pc:docMkLst>
      <pc:sldChg chg="modSp mod">
        <pc:chgData name="Sánchez Alonso Salvador" userId="7df3ed63-45ed-4b42-bad2-9bbf3f4468fb" providerId="ADAL" clId="{9D7CC8DB-5C5B-4B83-BAB2-2CBFD5C9F979}" dt="2025-02-05T06:32:34.573" v="1" actId="1076"/>
        <pc:sldMkLst>
          <pc:docMk/>
          <pc:sldMk cId="3936679155" sldId="321"/>
        </pc:sldMkLst>
        <pc:spChg chg="mod">
          <ac:chgData name="Sánchez Alonso Salvador" userId="7df3ed63-45ed-4b42-bad2-9bbf3f4468fb" providerId="ADAL" clId="{9D7CC8DB-5C5B-4B83-BAB2-2CBFD5C9F979}" dt="2025-02-05T06:32:34.573" v="1" actId="1076"/>
          <ac:spMkLst>
            <pc:docMk/>
            <pc:sldMk cId="3936679155" sldId="321"/>
            <ac:spMk id="10" creationId="{34E12648-C579-4436-B861-A532A59F68CF}"/>
          </ac:spMkLst>
        </pc:spChg>
      </pc:sldChg>
      <pc:sldChg chg="modSp mod">
        <pc:chgData name="Sánchez Alonso Salvador" userId="7df3ed63-45ed-4b42-bad2-9bbf3f4468fb" providerId="ADAL" clId="{9D7CC8DB-5C5B-4B83-BAB2-2CBFD5C9F979}" dt="2025-02-05T06:38:20.124" v="5" actId="1036"/>
        <pc:sldMkLst>
          <pc:docMk/>
          <pc:sldMk cId="64986948" sldId="335"/>
        </pc:sldMkLst>
        <pc:spChg chg="mod">
          <ac:chgData name="Sánchez Alonso Salvador" userId="7df3ed63-45ed-4b42-bad2-9bbf3f4468fb" providerId="ADAL" clId="{9D7CC8DB-5C5B-4B83-BAB2-2CBFD5C9F979}" dt="2025-02-05T06:37:43.433" v="3" actId="6549"/>
          <ac:spMkLst>
            <pc:docMk/>
            <pc:sldMk cId="64986948" sldId="335"/>
            <ac:spMk id="8" creationId="{E9261FF6-269B-6FDA-E0CE-591C90CDC02A}"/>
          </ac:spMkLst>
        </pc:spChg>
        <pc:picChg chg="mod">
          <ac:chgData name="Sánchez Alonso Salvador" userId="7df3ed63-45ed-4b42-bad2-9bbf3f4468fb" providerId="ADAL" clId="{9D7CC8DB-5C5B-4B83-BAB2-2CBFD5C9F979}" dt="2025-02-05T06:38:20.124" v="5" actId="1036"/>
          <ac:picMkLst>
            <pc:docMk/>
            <pc:sldMk cId="64986948" sldId="335"/>
            <ac:picMk id="4" creationId="{79411A57-99FB-C90F-B652-949CF2A0B7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50A3A-F914-8047-85B8-4CAD46519DFB}" type="datetimeFigureOut">
              <a:rPr lang="es-ES" smtClean="0"/>
              <a:t>05/02/2025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581F7-09F7-4641-93B1-38D3E06F69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10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581F7-09F7-4641-93B1-38D3E06F69F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11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A36EB746-07ED-4359-83DA-D092E86CE77E}"/>
              </a:ext>
            </a:extLst>
          </p:cNvPr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2CAFF70-1919-466A-8D1E-310BF8A1E995}"/>
              </a:ext>
            </a:extLst>
          </p:cNvPr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6CD1CBB-B772-4DA5-B11E-78FD417A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41873D-3F8F-4A18-A5BB-BB0AA73C92BF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A111484-9C02-4962-A685-C148BED2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5C7A46-A168-4C72-972C-DDAFC320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BD3B3C-4033-4B9C-945B-03563CCB3EA7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94291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BCC8C-4D73-41FD-9DC9-65FC8818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204F4F-CE25-4B7A-B773-3465978287DC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1443D-34D0-4F91-8EF1-E8BB4FB4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ECE5-348C-40A8-AFA3-BFE3B19B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1A0F6-0200-4C23-8F1E-3E3727BEDF88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6801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E6DD2-0D9D-4002-BEC0-5AE1BED1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48EACF-FF64-449E-84CB-C9F49A8B29CE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B6D0-BCBD-42BA-8DC1-0965F33A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D761-90E2-4D4E-9105-9CB11647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F3131-FD02-4137-B036-DB9A3E4F7A7D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73002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76A506-B364-482B-8887-7043F534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47F202-8E4F-4C99-A800-19D644075CF1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EF8526-08C6-4F62-8416-A1DD09BC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CAAB5B8-3AE8-4320-9414-EB922CF5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FEB57-ACE6-4CB6-87FA-DC5B274C1E8C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8491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A82B327-A092-4515-A9E6-194E6B4C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77AE96-7F2F-45FB-AE3F-5AF5FC107518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992F3E-BAC6-40BF-88D8-1F9DE72A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CFB61-13E2-4CDD-B7FD-D5E098D8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68283-B709-40FA-9ADC-47C9A1FF9EF9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5826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ADB758-6C0E-44BF-9795-C20C7E0A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AC4494-A63A-4A4F-B633-41460FED3935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56B994-2436-489B-903C-B6B68C98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E7B1E4-8643-4940-9517-CD89279F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D8797-4FB4-4B3F-9832-6B9506819A79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11358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35475B-6023-4F70-ACDF-31016B48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292E3C-5B0C-4E5B-94B9-57CE897DBB06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FEE7C6C-8DDC-41E4-ADA8-97DA0D39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DF309F-BB40-457B-938F-D43AA879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A934A-88F3-4F79-9132-ED3BFFA4CC73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50950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AE678C8-C2F5-492F-B824-0F0436B4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352942-5E69-465A-86DB-BB73A5930BF1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BCA581-BCD0-448F-8C4F-15BED57B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D203AB-48AA-45DB-B2E5-B153463E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57199-2152-4DD7-9F55-4190AC49CDF1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80633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>
            <a:extLst>
              <a:ext uri="{FF2B5EF4-FFF2-40B4-BE49-F238E27FC236}">
                <a16:creationId xmlns:a16="http://schemas.microsoft.com/office/drawing/2014/main" id="{11D2FA59-D578-4105-944A-8BF52914A703}"/>
              </a:ext>
            </a:extLst>
          </p:cNvPr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C5E658F-DB1E-4E81-A962-8E0622D98B47}"/>
              </a:ext>
            </a:extLst>
          </p:cNvPr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_tradnl" noProof="0"/>
              <a:t>Arrastre la imagen al marcador de posición o haga clic en el icono para agregar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30D110F-8C5C-4F12-ADFC-A3C5DD91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DB19EA-1DA4-4B71-8D2E-4A485B16DB26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1536193-97A6-4C4A-AD64-923BDF68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4AD7AFC-C4D4-48CC-8B3C-1311D633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8A8C99-E7C8-45E1-B8CA-06497BB196C7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32869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3BF5-439B-4050-B836-5904C378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68B8E0-B79E-4114-91CE-432CFE194447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6C011-5486-4A45-B4EF-3479DCF1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AB342-5B66-4829-A08F-CC802DFD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B7A75-CA81-45D4-8DC2-6D384E1A8B61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97776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4F3D1-1078-4EA1-83ED-37265F34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A29B8B-D319-4EE7-A672-FD15DE26441C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7631-DBC5-4666-8774-2079C306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D5F9-F10C-4B33-A9E1-D55481CA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EA900D-A446-447F-871C-4C48544E9B5D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223141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80D5B-0791-45D2-91C2-098133AC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5791200" cy="13716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_tradnl" altLang="es-ES"/>
              <a:t>Clic para editar título</a:t>
            </a:r>
            <a:endParaRPr lang="en-US" altLang="es-E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4108EDD-185B-4470-B676-5B3ED12F33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Haga clic para modificar el estilo de texto del patrón</a:t>
            </a:r>
          </a:p>
          <a:p>
            <a:pPr lvl="1"/>
            <a:r>
              <a:rPr lang="es-ES_tradnl" altLang="es-ES"/>
              <a:t>Segundo nivel</a:t>
            </a:r>
          </a:p>
          <a:p>
            <a:pPr lvl="2"/>
            <a:r>
              <a:rPr lang="es-ES_tradnl" altLang="es-ES"/>
              <a:t>Tercer nivel</a:t>
            </a:r>
          </a:p>
          <a:p>
            <a:pPr lvl="3"/>
            <a:r>
              <a:rPr lang="es-ES_tradnl" altLang="es-ES"/>
              <a:t>Cuarto nivel</a:t>
            </a:r>
          </a:p>
          <a:p>
            <a:pPr lvl="4"/>
            <a:r>
              <a:rPr lang="es-ES_tradnl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2170-68D9-481A-84B0-715F63FDD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050DC52F-2A97-4BAC-AEF1-56FB5B3F80E4}" type="datetime4">
              <a:rPr lang="en-US" altLang="es-ES"/>
              <a:pPr/>
              <a:t>February 5, 2025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E83E-1278-4657-AFEF-281CC2EFB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dirty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D9F4C-DD07-4C04-A39D-E6FFE968C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400" b="1">
                <a:solidFill>
                  <a:schemeClr val="tx2"/>
                </a:solidFill>
              </a:defRPr>
            </a:lvl1pPr>
          </a:lstStyle>
          <a:p>
            <a:fld id="{7722B84D-4123-4AA5-BE54-CC60AA3037DE}" type="slidenum">
              <a:rPr lang="en-US" altLang="es-ES"/>
              <a:pPr/>
              <a:t>‹Nº›</a:t>
            </a:fld>
            <a:endParaRPr lang="en-US" alt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72442-8270-4AB4-A13D-8BBE1EE7B1F5}"/>
              </a:ext>
            </a:extLst>
          </p:cNvPr>
          <p:cNvSpPr/>
          <p:nvPr/>
        </p:nvSpPr>
        <p:spPr>
          <a:xfrm>
            <a:off x="9001125" y="0"/>
            <a:ext cx="142875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E408B-62D2-4B42-A74B-B64B692108FC}"/>
              </a:ext>
            </a:extLst>
          </p:cNvPr>
          <p:cNvSpPr/>
          <p:nvPr/>
        </p:nvSpPr>
        <p:spPr>
          <a:xfrm>
            <a:off x="9001125" y="1371600"/>
            <a:ext cx="142875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6" r:id="rId9"/>
    <p:sldLayoutId id="2147483933" r:id="rId10"/>
    <p:sldLayoutId id="2147483934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9pPr>
    </p:titleStyle>
    <p:bodyStyle>
      <a:lvl1pPr algn="l" rtl="0" fontAlgn="base">
        <a:spcBef>
          <a:spcPct val="20000"/>
        </a:spcBef>
        <a:spcAft>
          <a:spcPts val="600"/>
        </a:spcAft>
        <a:buFont typeface="Arial" panose="020B0604020202020204" pitchFamily="34" charset="0"/>
        <a:defRPr sz="2000" b="1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457200" indent="-182563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CuadroTexto 8">
            <a:extLst>
              <a:ext uri="{FF2B5EF4-FFF2-40B4-BE49-F238E27FC236}">
                <a16:creationId xmlns:a16="http://schemas.microsoft.com/office/drawing/2014/main" id="{8E6E592A-A9B7-4456-B626-129198661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76988"/>
            <a:ext cx="4587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s-ES" altLang="es-ES" sz="1400" dirty="0">
                <a:solidFill>
                  <a:schemeClr val="tx2"/>
                </a:solidFill>
                <a:latin typeface="Gill Sans" charset="0"/>
              </a:rPr>
              <a:t>Facultad de Ciencias de la Comunicación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AA5E571-DFAC-42C3-8ECE-F2A1129C8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349875"/>
            <a:ext cx="9271000" cy="1508125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4100" name="Imagen 19" descr="logoURJCnegativo1.eps">
            <a:extLst>
              <a:ext uri="{FF2B5EF4-FFF2-40B4-BE49-F238E27FC236}">
                <a16:creationId xmlns:a16="http://schemas.microsoft.com/office/drawing/2014/main" id="{8724FDBD-E988-4561-8921-AC0CD481B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626100"/>
            <a:ext cx="18732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Subtítulo 2">
            <a:extLst>
              <a:ext uri="{FF2B5EF4-FFF2-40B4-BE49-F238E27FC236}">
                <a16:creationId xmlns:a16="http://schemas.microsoft.com/office/drawing/2014/main" id="{52CF2A1B-A795-4B8D-BDEF-377DA57DDCCB}"/>
              </a:ext>
            </a:extLst>
          </p:cNvPr>
          <p:cNvSpPr txBox="1">
            <a:spLocks/>
          </p:cNvSpPr>
          <p:nvPr/>
        </p:nvSpPr>
        <p:spPr bwMode="auto">
          <a:xfrm>
            <a:off x="4508500" y="454329"/>
            <a:ext cx="4064243" cy="34826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b="1" dirty="0">
                <a:solidFill>
                  <a:schemeClr val="bg1"/>
                </a:solidFill>
                <a:latin typeface="Gill Sans" charset="0"/>
              </a:rPr>
              <a:t>Estructura de Datos</a:t>
            </a:r>
          </a:p>
        </p:txBody>
      </p:sp>
      <p:sp>
        <p:nvSpPr>
          <p:cNvPr id="2" name="CuadroTexto 12">
            <a:extLst>
              <a:ext uri="{FF2B5EF4-FFF2-40B4-BE49-F238E27FC236}">
                <a16:creationId xmlns:a16="http://schemas.microsoft.com/office/drawing/2014/main" id="{713660E4-7A5B-E619-43B0-567F3AA1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926" y="5898956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>
                <a:solidFill>
                  <a:srgbClr val="FFFFFF"/>
                </a:solidFill>
                <a:latin typeface="Gill Sans" charset="0"/>
              </a:rPr>
              <a:t>Curso 2024-2025</a:t>
            </a:r>
            <a:endParaRPr lang="es-ES" altLang="es-ES" sz="1400" dirty="0">
              <a:solidFill>
                <a:srgbClr val="FFFFFF"/>
              </a:solidFill>
              <a:latin typeface="Gill Sans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F2A1B-A795-4B8D-BDEF-377DA57DDCCB}"/>
              </a:ext>
            </a:extLst>
          </p:cNvPr>
          <p:cNvSpPr txBox="1">
            <a:spLocks/>
          </p:cNvSpPr>
          <p:nvPr/>
        </p:nvSpPr>
        <p:spPr bwMode="auto">
          <a:xfrm>
            <a:off x="912813" y="4597041"/>
            <a:ext cx="4891639" cy="2353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</a:pPr>
            <a:r>
              <a:rPr lang="es-ES" altLang="es-ES" sz="1400" b="1" i="1" dirty="0">
                <a:solidFill>
                  <a:srgbClr val="C00000"/>
                </a:solidFill>
                <a:latin typeface="Gill Sans" charset="0"/>
              </a:rPr>
              <a:t>Salvador Sánchez, Cristian Rodríguez y Sergio Cavero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5508E3A-56F2-4E3C-927E-C8EF5AE190A7}"/>
              </a:ext>
            </a:extLst>
          </p:cNvPr>
          <p:cNvSpPr txBox="1">
            <a:spLocks/>
          </p:cNvSpPr>
          <p:nvPr/>
        </p:nvSpPr>
        <p:spPr>
          <a:xfrm>
            <a:off x="817563" y="1935523"/>
            <a:ext cx="6997433" cy="1508125"/>
          </a:xfrm>
          <a:prstGeom prst="rect">
            <a:avLst/>
          </a:prstGeom>
          <a:noFill/>
        </p:spPr>
        <p:txBody>
          <a:bodyPr anchor="b">
            <a:normAutofit fontScale="92500" lnSpcReduction="20000"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br>
              <a:rPr lang="es-ES" altLang="es-ES" sz="1100" dirty="0">
                <a:solidFill>
                  <a:schemeClr val="tx2"/>
                </a:solidFill>
                <a:latin typeface="Gill Sans" charset="0"/>
              </a:rPr>
            </a:br>
            <a:r>
              <a:rPr lang="es-ES" altLang="es-ES" sz="4000" b="1" dirty="0">
                <a:solidFill>
                  <a:schemeClr val="tx2"/>
                </a:solidFill>
                <a:latin typeface="Gill Sans" charset="0"/>
              </a:rPr>
              <a:t>Tema 2:</a:t>
            </a:r>
          </a:p>
          <a:p>
            <a:pPr>
              <a:lnSpc>
                <a:spcPct val="80000"/>
              </a:lnSpc>
            </a:pPr>
            <a:endParaRPr lang="es-ES" altLang="es-ES" sz="4000" b="1" dirty="0">
              <a:solidFill>
                <a:schemeClr val="tx2"/>
              </a:solidFill>
              <a:latin typeface="Gill Sans" charset="0"/>
            </a:endParaRPr>
          </a:p>
          <a:p>
            <a:pPr>
              <a:lnSpc>
                <a:spcPct val="80000"/>
              </a:lnSpc>
            </a:pPr>
            <a:r>
              <a:rPr lang="es-ES" altLang="es-ES" sz="5200" b="1" dirty="0">
                <a:solidFill>
                  <a:schemeClr val="tx2"/>
                </a:solidFill>
                <a:latin typeface="Gill Sans" charset="0"/>
              </a:rPr>
              <a:t>Tipos Abstractos de Datos</a:t>
            </a:r>
            <a:endParaRPr lang="es-ES" altLang="es-ES" sz="3000" b="1" dirty="0">
              <a:solidFill>
                <a:schemeClr val="tx2"/>
              </a:solidFill>
              <a:latin typeface="Gill Sans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B67040A-D817-4D92-9E1B-19A2F2EBF870}"/>
              </a:ext>
            </a:extLst>
          </p:cNvPr>
          <p:cNvSpPr txBox="1">
            <a:spLocks/>
          </p:cNvSpPr>
          <p:nvPr/>
        </p:nvSpPr>
        <p:spPr>
          <a:xfrm>
            <a:off x="896938" y="4085864"/>
            <a:ext cx="5343525" cy="3381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anchor="ctr">
            <a:normAutofit fontScale="92500" lnSpcReduction="10000"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GRADO EN INGENIERÍA DEL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Contenidos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Definición de TAD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Especificación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Implementación en Pascal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Ejercicios propuestos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350935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/>
              <a:t>Un tipo de datos abstracto (TAD) </a:t>
            </a:r>
            <a:r>
              <a:rPr lang="es-ES" b="0" dirty="0"/>
              <a:t>es una descripción de alto nivel de una colección de datos y de las operaciones que pueden realizarse con ella.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Define la estructura de datos con un conjunto de reglas y comportamientos, sin especificar la implementación real.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 err="1"/>
              <a:t>Esencial</a:t>
            </a:r>
            <a:r>
              <a:rPr lang="en-US" b="0" dirty="0"/>
              <a:t>: </a:t>
            </a:r>
            <a:r>
              <a:rPr lang="en-US" b="0" dirty="0" err="1"/>
              <a:t>independencia</a:t>
            </a:r>
            <a:r>
              <a:rPr lang="en-US" b="0" dirty="0"/>
              <a:t> de la </a:t>
            </a:r>
            <a:r>
              <a:rPr lang="en-US" b="0" dirty="0" err="1"/>
              <a:t>implementación</a:t>
            </a:r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393667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98238"/>
            <a:ext cx="7985051" cy="262801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/>
              <a:t>Una cola de espera permite: entrar, salir, consultar si está vacía,  consultar cuál es el último, consultar cuál es el primero.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/>
              <a:t>Internamente puede programarse de múltiples formas, pero externamente el comportamiento es siempre el mismo</a:t>
            </a:r>
          </a:p>
          <a:p>
            <a:pPr algn="l"/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B146000-2A7A-0B34-8DEB-AF4D78670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5202" y="2761899"/>
            <a:ext cx="4193595" cy="196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1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tipos de operaciones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Las operaciones de un TAD se pueden clasificar como:</a:t>
            </a:r>
          </a:p>
          <a:p>
            <a:pPr marL="800100" lvl="1" indent="-342900"/>
            <a:r>
              <a:rPr lang="es-ES" b="1" dirty="0"/>
              <a:t>Creación</a:t>
            </a:r>
            <a:r>
              <a:rPr lang="es-ES" b="0" dirty="0"/>
              <a:t>: Permiten inicializar y obtener nuevos objetos del tipo. En POO se denominan constructores.</a:t>
            </a:r>
          </a:p>
          <a:p>
            <a:pPr marL="800100" lvl="1" indent="-342900"/>
            <a:r>
              <a:rPr lang="es-ES" b="1" dirty="0"/>
              <a:t>Modificación</a:t>
            </a:r>
            <a:r>
              <a:rPr lang="es-ES" b="0" dirty="0"/>
              <a:t>: Permiten realizar cambios en el estado interno de un objeto del tipo</a:t>
            </a:r>
          </a:p>
          <a:p>
            <a:pPr marL="800100" lvl="1" indent="-342900"/>
            <a:r>
              <a:rPr lang="es-ES" b="1" dirty="0"/>
              <a:t>Consulta</a:t>
            </a:r>
            <a:r>
              <a:rPr lang="es-ES" b="0" dirty="0"/>
              <a:t>: Extraen información del TAD</a:t>
            </a:r>
          </a:p>
          <a:p>
            <a:pPr marL="800100" lvl="1" indent="-342900"/>
            <a:r>
              <a:rPr lang="es-ES" b="1" dirty="0"/>
              <a:t>Propias del TAD</a:t>
            </a:r>
            <a:r>
              <a:rPr lang="es-ES" b="0" dirty="0"/>
              <a:t>: Operaciones entre elementos del tipo no definidas para otros, p.ej. Determinante de una matriz, etc.</a:t>
            </a:r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3041416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Para definir un TAD se emplea una </a:t>
            </a:r>
            <a:r>
              <a:rPr lang="es-ES" dirty="0"/>
              <a:t>especificación</a:t>
            </a:r>
          </a:p>
          <a:p>
            <a:pPr marL="800100" lvl="1" indent="-342900"/>
            <a:r>
              <a:rPr lang="es-ES" dirty="0"/>
              <a:t>Debe ser independiente de cualquier implementación</a:t>
            </a:r>
          </a:p>
          <a:p>
            <a:pPr marL="800100" lvl="1" indent="-342900"/>
            <a:r>
              <a:rPr lang="es-ES" b="0" dirty="0"/>
              <a:t>Diferentes modos de especificación: lenguaje natural, especificación algebraica, lenguajes formales, etc. 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0" dirty="0"/>
              <a:t>Consiste en separar el comportamiento esperado de su implementación concreta.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0" dirty="0"/>
              <a:t>Estamos definiendo cómo se comporta un nuevo tipo.</a:t>
            </a:r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197944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algn="l"/>
            <a:r>
              <a:rPr lang="es-ES" b="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0" dirty="0"/>
              <a:t>Especificación en lenguaje natural:</a:t>
            </a:r>
          </a:p>
          <a:p>
            <a:pPr marL="800100" lvl="1" indent="-342900"/>
            <a:r>
              <a:rPr lang="es-ES" b="1" dirty="0"/>
              <a:t>Nombre</a:t>
            </a:r>
            <a:r>
              <a:rPr lang="es-ES" dirty="0"/>
              <a:t> del TAD.</a:t>
            </a:r>
          </a:p>
          <a:p>
            <a:pPr marL="800100" lvl="1" indent="-342900"/>
            <a:r>
              <a:rPr lang="es-ES" b="1" dirty="0"/>
              <a:t>Valores</a:t>
            </a:r>
            <a:r>
              <a:rPr lang="es-ES" b="0" dirty="0"/>
              <a:t> posibles.</a:t>
            </a:r>
          </a:p>
          <a:p>
            <a:pPr marL="800100" lvl="1" indent="-342900"/>
            <a:r>
              <a:rPr lang="es-ES" b="1" dirty="0"/>
              <a:t>Operaciones</a:t>
            </a:r>
            <a:r>
              <a:rPr lang="es-ES" dirty="0"/>
              <a:t> (algunas pueden tener restricciones que indicaremos mediante precondiciones).</a:t>
            </a:r>
          </a:p>
          <a:p>
            <a:pPr marL="800100" lvl="1" indent="-342900"/>
            <a:r>
              <a:rPr lang="es-ES" b="1" dirty="0"/>
              <a:t>Uso</a:t>
            </a:r>
            <a:r>
              <a:rPr lang="es-ES" b="0" dirty="0"/>
              <a:t> de otros tipos.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37530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ejemplos de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7815944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800100" lvl="1" indent="-342900"/>
            <a:r>
              <a:rPr lang="es-ES" b="1" dirty="0"/>
              <a:t>Nombre: </a:t>
            </a:r>
            <a:r>
              <a:rPr lang="es-ES" dirty="0"/>
              <a:t>Semáforo.</a:t>
            </a:r>
          </a:p>
          <a:p>
            <a:pPr marL="800100" lvl="1" indent="-342900"/>
            <a:r>
              <a:rPr lang="es-ES" b="1" dirty="0"/>
              <a:t>Valores posibles: </a:t>
            </a:r>
            <a:r>
              <a:rPr lang="es-ES" b="0" i="1" dirty="0"/>
              <a:t>rojo</a:t>
            </a:r>
            <a:r>
              <a:rPr lang="es-ES" b="0" dirty="0"/>
              <a:t>, </a:t>
            </a:r>
            <a:r>
              <a:rPr lang="es-ES" b="0" i="1" dirty="0"/>
              <a:t>verde</a:t>
            </a:r>
            <a:r>
              <a:rPr lang="es-ES" b="0" dirty="0"/>
              <a:t>.</a:t>
            </a:r>
          </a:p>
          <a:p>
            <a:pPr marL="800100" lvl="1" indent="-342900"/>
            <a:r>
              <a:rPr lang="es-ES" b="1" dirty="0"/>
              <a:t>Operaciones:</a:t>
            </a:r>
          </a:p>
          <a:p>
            <a:pPr marL="1485900" lvl="2" indent="-342900"/>
            <a:r>
              <a:rPr lang="es-ES" dirty="0"/>
              <a:t>abrir</a:t>
            </a:r>
          </a:p>
          <a:p>
            <a:pPr marL="1485900" lvl="2" indent="-342900"/>
            <a:r>
              <a:rPr lang="es-ES" dirty="0"/>
              <a:t>cerrar</a:t>
            </a:r>
          </a:p>
          <a:p>
            <a:pPr marL="1485900" lvl="2" indent="-342900"/>
            <a:r>
              <a:rPr lang="es-ES" dirty="0"/>
              <a:t>comprobar si está abierto</a:t>
            </a:r>
          </a:p>
          <a:p>
            <a:pPr marL="800100" lvl="1" indent="-342900"/>
            <a:r>
              <a:rPr lang="es-ES" b="1" dirty="0"/>
              <a:t>Uso de otros tipos: </a:t>
            </a:r>
            <a:r>
              <a:rPr lang="es-ES" dirty="0" err="1"/>
              <a:t>char</a:t>
            </a:r>
            <a:r>
              <a:rPr lang="es-ES" dirty="0"/>
              <a:t>/</a:t>
            </a:r>
            <a:r>
              <a:rPr lang="es-ES" b="0" dirty="0"/>
              <a:t>enteros/</a:t>
            </a:r>
            <a:r>
              <a:rPr lang="es-ES" b="0" dirty="0" err="1"/>
              <a:t>boolean</a:t>
            </a:r>
            <a:r>
              <a:rPr lang="es-ES" b="0" dirty="0"/>
              <a:t> (según implementación).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3" name="Imagen 2" descr="Semáforo con luz roja&#10;&#10;Descripción generada automáticamente">
            <a:extLst>
              <a:ext uri="{FF2B5EF4-FFF2-40B4-BE49-F238E27FC236}">
                <a16:creationId xmlns:a16="http://schemas.microsoft.com/office/drawing/2014/main" id="{E6E26F27-CDFB-EC96-D6D4-A4AE49844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760" y="1350335"/>
            <a:ext cx="2225040" cy="222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ejemplos de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74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Implementación: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abrir()</a:t>
            </a:r>
            <a:r>
              <a:rPr lang="es-ES" dirty="0"/>
              <a:t>: procedimiento, pone valor interno a verde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cerrar</a:t>
            </a:r>
            <a:r>
              <a:rPr lang="es-ES" dirty="0"/>
              <a:t>(): procedimiento, pone valor interno a rojo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esta_abierto()</a:t>
            </a:r>
            <a:r>
              <a:rPr lang="es-ES" dirty="0"/>
              <a:t>: función, retorna true/false según valor interno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3" name="Imagen 2" descr="Semáforo con luz roja&#10;&#10;Descripción generada automáticamente">
            <a:extLst>
              <a:ext uri="{FF2B5EF4-FFF2-40B4-BE49-F238E27FC236}">
                <a16:creationId xmlns:a16="http://schemas.microsoft.com/office/drawing/2014/main" id="{24B4CF0E-C1D6-DC84-2A50-5C1FA5DFA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0" y="3429000"/>
            <a:ext cx="231648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9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25" y="1795671"/>
            <a:ext cx="7544245" cy="1063644"/>
          </a:xfrm>
        </p:spPr>
        <p:txBody>
          <a:bodyPr/>
          <a:lstStyle/>
          <a:p>
            <a:pPr algn="l"/>
            <a:r>
              <a:rPr lang="es-ES" sz="2400" b="0" dirty="0"/>
              <a:t>¿Cómo especificarías un semáforo con tres luces (verde, rojo y ámbar)?</a:t>
            </a:r>
          </a:p>
          <a:p>
            <a:pPr algn="l"/>
            <a:endParaRPr lang="es-ES" b="0" dirty="0"/>
          </a:p>
        </p:txBody>
      </p:sp>
      <p:pic>
        <p:nvPicPr>
          <p:cNvPr id="5" name="Imagen 4" descr="Un luz de colores&#10;&#10;Descripción generada automáticamente con confianza media">
            <a:extLst>
              <a:ext uri="{FF2B5EF4-FFF2-40B4-BE49-F238E27FC236}">
                <a16:creationId xmlns:a16="http://schemas.microsoft.com/office/drawing/2014/main" id="{7682FAE5-42C5-C09F-42C6-B960AB7F8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13266" y="3032579"/>
            <a:ext cx="730562" cy="179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9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ejemplos de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800100" lvl="1" indent="-342900"/>
            <a:r>
              <a:rPr lang="es-ES" b="1" dirty="0"/>
              <a:t>Nombre: </a:t>
            </a:r>
            <a:r>
              <a:rPr lang="es-ES" dirty="0"/>
              <a:t>Semáforo.</a:t>
            </a:r>
          </a:p>
          <a:p>
            <a:pPr marL="800100" lvl="1" indent="-342900"/>
            <a:r>
              <a:rPr lang="es-ES" b="1" dirty="0"/>
              <a:t>Valores posibles: </a:t>
            </a:r>
            <a:r>
              <a:rPr lang="es-ES" b="0" i="1" dirty="0"/>
              <a:t>rojo</a:t>
            </a:r>
            <a:r>
              <a:rPr lang="es-ES" b="0" dirty="0"/>
              <a:t>, </a:t>
            </a:r>
            <a:r>
              <a:rPr lang="es-ES" b="0" i="1" dirty="0"/>
              <a:t>verde, ámbar</a:t>
            </a:r>
            <a:r>
              <a:rPr lang="es-ES" b="0" dirty="0"/>
              <a:t>.</a:t>
            </a:r>
          </a:p>
          <a:p>
            <a:pPr marL="800100" lvl="1" indent="-342900"/>
            <a:r>
              <a:rPr lang="es-ES" b="1" dirty="0"/>
              <a:t>Operaciones:</a:t>
            </a:r>
          </a:p>
          <a:p>
            <a:pPr marL="1485900" lvl="2" indent="-342900"/>
            <a:r>
              <a:rPr lang="es-ES" dirty="0"/>
              <a:t>abrir</a:t>
            </a:r>
          </a:p>
          <a:p>
            <a:pPr marL="1485900" lvl="2" indent="-342900"/>
            <a:r>
              <a:rPr lang="es-ES" dirty="0"/>
              <a:t>cerrar</a:t>
            </a:r>
          </a:p>
          <a:p>
            <a:pPr marL="1485900" lvl="2" indent="-342900"/>
            <a:r>
              <a:rPr lang="es-ES" dirty="0"/>
              <a:t>comprobar si está abierto</a:t>
            </a:r>
          </a:p>
          <a:p>
            <a:pPr marL="800100" lvl="1" indent="-342900"/>
            <a:r>
              <a:rPr lang="es-ES" b="1" dirty="0"/>
              <a:t>Uso de otros tipos: </a:t>
            </a:r>
            <a:r>
              <a:rPr lang="es-ES" dirty="0" err="1"/>
              <a:t>char</a:t>
            </a:r>
            <a:r>
              <a:rPr lang="es-ES" dirty="0"/>
              <a:t>/</a:t>
            </a:r>
            <a:r>
              <a:rPr lang="es-ES" b="0" dirty="0"/>
              <a:t>entero (según implementación)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6" name="Imagen 5" descr="Un luz de colores&#10;&#10;Descripción generada automáticamente con confianza media">
            <a:extLst>
              <a:ext uri="{FF2B5EF4-FFF2-40B4-BE49-F238E27FC236}">
                <a16:creationId xmlns:a16="http://schemas.microsoft.com/office/drawing/2014/main" id="{02CF214D-A93B-D7D6-8D41-BA57D474E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91076" y="1219533"/>
            <a:ext cx="721553" cy="177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95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ejemplos de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74" y="1752600"/>
            <a:ext cx="6864540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Implementación: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abrir()</a:t>
            </a:r>
            <a:r>
              <a:rPr lang="es-ES" dirty="0"/>
              <a:t>: procedimiento, pone valor interno a verde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cerrar</a:t>
            </a:r>
            <a:r>
              <a:rPr lang="es-ES" dirty="0"/>
              <a:t>(): procedimiento, pone valor interno a ámbar durante 3 segundos, luego a rojo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esta_abierto()</a:t>
            </a:r>
            <a:r>
              <a:rPr lang="es-ES" dirty="0"/>
              <a:t>: función, retorna true/false según valor interno</a:t>
            </a:r>
          </a:p>
          <a:p>
            <a:pPr marL="800100" lvl="1" indent="-342900"/>
            <a:endParaRPr lang="es-ES" dirty="0"/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4" name="Imagen 3" descr="Un luz de colores&#10;&#10;Descripción generada automáticamente con confianza media">
            <a:extLst>
              <a:ext uri="{FF2B5EF4-FFF2-40B4-BE49-F238E27FC236}">
                <a16:creationId xmlns:a16="http://schemas.microsoft.com/office/drawing/2014/main" id="{DA6BC82E-5615-BFA5-4840-87063B716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91076" y="1219533"/>
            <a:ext cx="721553" cy="177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79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ejemplos de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800100" lvl="1" indent="-342900"/>
            <a:r>
              <a:rPr lang="es-ES" b="1" dirty="0"/>
              <a:t>Nombre: </a:t>
            </a:r>
            <a:r>
              <a:rPr lang="es-ES" dirty="0"/>
              <a:t>Contador</a:t>
            </a:r>
          </a:p>
          <a:p>
            <a:pPr marL="800100" lvl="1" indent="-342900"/>
            <a:r>
              <a:rPr lang="es-ES" b="1" dirty="0"/>
              <a:t>Valores posibles: </a:t>
            </a:r>
            <a:r>
              <a:rPr lang="es-ES" b="0" dirty="0"/>
              <a:t>enteros positivos</a:t>
            </a:r>
          </a:p>
          <a:p>
            <a:pPr marL="800100" lvl="1" indent="-342900"/>
            <a:r>
              <a:rPr lang="es-ES" b="1" dirty="0"/>
              <a:t>Operaciones:</a:t>
            </a:r>
          </a:p>
          <a:p>
            <a:pPr marL="1485900" lvl="2" indent="-342900"/>
            <a:r>
              <a:rPr lang="es-ES" dirty="0"/>
              <a:t>inicializar</a:t>
            </a:r>
          </a:p>
          <a:p>
            <a:pPr marL="1485900" lvl="2" indent="-342900"/>
            <a:r>
              <a:rPr lang="es-ES" dirty="0"/>
              <a:t>incrementar</a:t>
            </a:r>
          </a:p>
          <a:p>
            <a:pPr marL="1485900" lvl="2" indent="-342900"/>
            <a:r>
              <a:rPr lang="es-ES"/>
              <a:t>consultar su valor</a:t>
            </a:r>
            <a:endParaRPr lang="es-ES" dirty="0"/>
          </a:p>
          <a:p>
            <a:pPr marL="1485900" lvl="2" indent="-342900"/>
            <a:r>
              <a:rPr lang="es-ES" dirty="0"/>
              <a:t>decrementar (PRE: si no está a cero)</a:t>
            </a:r>
          </a:p>
          <a:p>
            <a:pPr marL="800100" lvl="1" indent="-342900"/>
            <a:r>
              <a:rPr lang="es-ES" b="1" dirty="0"/>
              <a:t>Uso de otros tipos: </a:t>
            </a:r>
            <a:r>
              <a:rPr lang="es-ES" b="0" dirty="0"/>
              <a:t>enteros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5" name="Imagen 4" descr="Imagen que contiene reloj, medidor&#10;&#10;Descripción generada automáticamente">
            <a:extLst>
              <a:ext uri="{FF2B5EF4-FFF2-40B4-BE49-F238E27FC236}">
                <a16:creationId xmlns:a16="http://schemas.microsoft.com/office/drawing/2014/main" id="{3F272557-E9D0-8582-D995-5BAD33F6E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1" r="43162"/>
          <a:stretch/>
        </p:blipFill>
        <p:spPr>
          <a:xfrm>
            <a:off x="6676855" y="2354580"/>
            <a:ext cx="1438103" cy="26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50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ejemplos de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46760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Implementación: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inicializar()</a:t>
            </a:r>
            <a:r>
              <a:rPr lang="es-ES" dirty="0"/>
              <a:t>: procedimiento, pone entero interno a cero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incrementar</a:t>
            </a:r>
            <a:r>
              <a:rPr lang="es-ES" dirty="0"/>
              <a:t>(): procedimiento, suma 1 al valor interno</a:t>
            </a:r>
          </a:p>
          <a:p>
            <a:pPr marL="800100" lvl="1" indent="-342900"/>
            <a:r>
              <a:rPr lang="es-ES" sz="1800" dirty="0" err="1">
                <a:latin typeface="Consolas" panose="020B0609020204030204" pitchFamily="49" charset="0"/>
              </a:rPr>
              <a:t>obtener_valor</a:t>
            </a:r>
            <a:r>
              <a:rPr lang="es-ES" sz="1800" dirty="0">
                <a:latin typeface="Consolas" panose="020B0609020204030204" pitchFamily="49" charset="0"/>
              </a:rPr>
              <a:t>()</a:t>
            </a:r>
            <a:r>
              <a:rPr lang="es-ES" dirty="0"/>
              <a:t>: función, retorna valor interno</a:t>
            </a:r>
          </a:p>
          <a:p>
            <a:pPr marL="800100" lvl="1" indent="-342900"/>
            <a:r>
              <a:rPr lang="es-ES" sz="1800" dirty="0">
                <a:latin typeface="Consolas" panose="020B0609020204030204" pitchFamily="49" charset="0"/>
              </a:rPr>
              <a:t>decrementar()</a:t>
            </a:r>
          </a:p>
          <a:p>
            <a:pPr marL="1485900" lvl="2" indent="-342900"/>
            <a:r>
              <a:rPr lang="es-ES" dirty="0"/>
              <a:t>PRE: si no está a cero</a:t>
            </a:r>
          </a:p>
          <a:p>
            <a:pPr marL="1485900" lvl="2" indent="-342900"/>
            <a:r>
              <a:rPr lang="es-ES" dirty="0"/>
              <a:t>Implementación: procedimiento, decrementa en 1 el valor interno, si no está a cero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5" name="Imagen 4" descr="Imagen que contiene reloj, medidor&#10;&#10;Descripción generada automáticamente">
            <a:extLst>
              <a:ext uri="{FF2B5EF4-FFF2-40B4-BE49-F238E27FC236}">
                <a16:creationId xmlns:a16="http://schemas.microsoft.com/office/drawing/2014/main" id="{00A043D2-007D-E2DF-84C6-2899C653DA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1" r="43162"/>
          <a:stretch/>
        </p:blipFill>
        <p:spPr>
          <a:xfrm>
            <a:off x="7787640" y="4106154"/>
            <a:ext cx="864557" cy="157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42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6" y="1752600"/>
            <a:ext cx="7140054" cy="3755065"/>
          </a:xfrm>
        </p:spPr>
        <p:txBody>
          <a:bodyPr/>
          <a:lstStyle/>
          <a:p>
            <a:pPr algn="l"/>
            <a:r>
              <a:rPr lang="es-ES" b="0" dirty="0"/>
              <a:t>¿Cómo sería la especificación en lenguaje natural de un contador con límite y que puede incrementar en más de una unidad cada vez?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3" name="Imagen 2" descr="Imagen que contiene tabla, cámara, pequeño, sostener&#10;&#10;Descripción generada automáticamente">
            <a:extLst>
              <a:ext uri="{FF2B5EF4-FFF2-40B4-BE49-F238E27FC236}">
                <a16:creationId xmlns:a16="http://schemas.microsoft.com/office/drawing/2014/main" id="{BD45074E-5DE6-A97D-3E0D-807D461AC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947" y="3109686"/>
            <a:ext cx="1848074" cy="188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26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ejemplos de especificación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800100" lvl="1" indent="-342900"/>
            <a:r>
              <a:rPr lang="es-ES" b="1" dirty="0"/>
              <a:t>Nombre: </a:t>
            </a:r>
            <a:r>
              <a:rPr lang="es-ES" dirty="0" err="1"/>
              <a:t>Contador_limitado</a:t>
            </a:r>
            <a:endParaRPr lang="es-ES" dirty="0"/>
          </a:p>
          <a:p>
            <a:pPr marL="800100" lvl="1" indent="-342900"/>
            <a:r>
              <a:rPr lang="es-ES" b="1" dirty="0"/>
              <a:t>Valores posibles: </a:t>
            </a:r>
            <a:r>
              <a:rPr lang="es-ES" b="0" dirty="0"/>
              <a:t>enteros positivos</a:t>
            </a:r>
          </a:p>
          <a:p>
            <a:pPr marL="800100" lvl="1" indent="-342900"/>
            <a:r>
              <a:rPr lang="es-ES" b="1" dirty="0"/>
              <a:t>Operaciones:</a:t>
            </a:r>
          </a:p>
          <a:p>
            <a:pPr marL="1485900" lvl="2" indent="-342900"/>
            <a:r>
              <a:rPr lang="es-ES" dirty="0"/>
              <a:t>Inicializar()</a:t>
            </a:r>
          </a:p>
          <a:p>
            <a:pPr marL="1485900" lvl="2" indent="-342900"/>
            <a:r>
              <a:rPr lang="es-ES" dirty="0"/>
              <a:t>Incrementar(n) (*)</a:t>
            </a:r>
          </a:p>
          <a:p>
            <a:pPr marL="1485900" lvl="2" indent="-342900"/>
            <a:r>
              <a:rPr lang="es-ES" dirty="0"/>
              <a:t>Consultar su valor</a:t>
            </a:r>
          </a:p>
          <a:p>
            <a:pPr marL="1485900" lvl="2" indent="-342900"/>
            <a:r>
              <a:rPr lang="es-ES" dirty="0"/>
              <a:t>Decrementar (PRE: no está a cero)</a:t>
            </a:r>
          </a:p>
          <a:p>
            <a:pPr marL="800100" lvl="1" indent="-342900"/>
            <a:r>
              <a:rPr lang="es-ES" b="1" dirty="0"/>
              <a:t>Uso de otros tipos: </a:t>
            </a:r>
            <a:r>
              <a:rPr lang="es-ES" b="0" dirty="0"/>
              <a:t>enteros</a:t>
            </a:r>
          </a:p>
          <a:p>
            <a:pPr marL="342900" indent="-342900"/>
            <a:endParaRPr lang="es-ES" b="0" dirty="0"/>
          </a:p>
          <a:p>
            <a:pPr marL="342900" indent="-342900" algn="r"/>
            <a:r>
              <a:rPr lang="es-ES" sz="1600" b="0" i="1" dirty="0"/>
              <a:t>(*) Habrá que pensar qué hacer cuando se alcanza el límite</a:t>
            </a:r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  <p:pic>
        <p:nvPicPr>
          <p:cNvPr id="2" name="Imagen 1" descr="Imagen que contiene tabla, cámara, pequeño, sostener&#10;&#10;Descripción generada automáticamente">
            <a:extLst>
              <a:ext uri="{FF2B5EF4-FFF2-40B4-BE49-F238E27FC236}">
                <a16:creationId xmlns:a16="http://schemas.microsoft.com/office/drawing/2014/main" id="{E4235809-168B-34E4-0FDF-90B5EC96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233" y="2565400"/>
            <a:ext cx="1848074" cy="188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10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implementación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Para la implementación de TADs en un lenguaje de programación se tienen en cuenta algunos detalles:</a:t>
            </a:r>
          </a:p>
          <a:p>
            <a:pPr marL="800100" lvl="1" indent="-342900"/>
            <a:r>
              <a:rPr lang="en-US" sz="1600" b="0" i="1" dirty="0"/>
              <a:t>Privacidad</a:t>
            </a:r>
            <a:r>
              <a:rPr lang="en-US" sz="1600" b="0" dirty="0"/>
              <a:t>: la representación interna y las </a:t>
            </a:r>
            <a:r>
              <a:rPr lang="en-US" sz="1600" b="0" dirty="0" err="1"/>
              <a:t>operaciones</a:t>
            </a:r>
            <a:r>
              <a:rPr lang="en-US" sz="1600" b="0" dirty="0"/>
              <a:t> </a:t>
            </a:r>
            <a:r>
              <a:rPr lang="en-US" sz="1600" b="0" dirty="0" err="1"/>
              <a:t>tienen</a:t>
            </a:r>
            <a:r>
              <a:rPr lang="en-US" sz="1600" b="0" dirty="0"/>
              <a:t> </a:t>
            </a:r>
            <a:r>
              <a:rPr lang="en-US" sz="1600" b="0" dirty="0" err="1"/>
              <a:t>diferentes</a:t>
            </a:r>
            <a:r>
              <a:rPr lang="en-US" sz="1600" b="0" dirty="0"/>
              <a:t> </a:t>
            </a:r>
            <a:r>
              <a:rPr lang="en-US" sz="1600" b="0" dirty="0" err="1"/>
              <a:t>niveles</a:t>
            </a:r>
            <a:r>
              <a:rPr lang="en-US" sz="1600" b="0" dirty="0"/>
              <a:t> de </a:t>
            </a:r>
            <a:r>
              <a:rPr lang="en-US" sz="1600" b="0" dirty="0" err="1"/>
              <a:t>privacidad</a:t>
            </a:r>
            <a:r>
              <a:rPr lang="en-US" sz="1600" b="0" dirty="0"/>
              <a:t>. En </a:t>
            </a:r>
            <a:r>
              <a:rPr lang="en-US" sz="1600" b="0" dirty="0" err="1"/>
              <a:t>el</a:t>
            </a:r>
            <a:r>
              <a:rPr lang="en-US" sz="1600" b="0" dirty="0"/>
              <a:t> </a:t>
            </a:r>
            <a:r>
              <a:rPr lang="en-US" sz="1600" b="0" dirty="0" err="1"/>
              <a:t>más</a:t>
            </a:r>
            <a:r>
              <a:rPr lang="en-US" sz="1600" b="0" dirty="0"/>
              <a:t> </a:t>
            </a:r>
            <a:r>
              <a:rPr lang="en-US" sz="1600" b="0" dirty="0" err="1"/>
              <a:t>restrictivo</a:t>
            </a:r>
            <a:r>
              <a:rPr lang="en-US" sz="1600" b="0" dirty="0"/>
              <a:t> </a:t>
            </a:r>
            <a:r>
              <a:rPr lang="en-US" sz="1600" b="0" dirty="0" err="1"/>
              <a:t>el</a:t>
            </a:r>
            <a:r>
              <a:rPr lang="en-US" sz="1600" b="0" dirty="0"/>
              <a:t> </a:t>
            </a:r>
            <a:r>
              <a:rPr lang="en-US" sz="1600" b="0" dirty="0" err="1"/>
              <a:t>acceso</a:t>
            </a:r>
            <a:r>
              <a:rPr lang="en-US" sz="1600" b="0" dirty="0"/>
              <a:t> </a:t>
            </a:r>
            <a:r>
              <a:rPr lang="en-US" sz="1600" b="0" dirty="0" err="1"/>
              <a:t>está</a:t>
            </a:r>
            <a:r>
              <a:rPr lang="en-US" sz="1600" b="0" dirty="0"/>
              <a:t> </a:t>
            </a:r>
            <a:r>
              <a:rPr lang="en-US" sz="1600" b="0" dirty="0" err="1"/>
              <a:t>vetado</a:t>
            </a:r>
            <a:r>
              <a:rPr lang="en-US" sz="1600" b="0" dirty="0"/>
              <a:t> al </a:t>
            </a:r>
            <a:r>
              <a:rPr lang="en-US" sz="1600" b="0" dirty="0" err="1"/>
              <a:t>usuario</a:t>
            </a:r>
            <a:r>
              <a:rPr lang="en-US" sz="1600" b="0" dirty="0"/>
              <a:t> </a:t>
            </a:r>
            <a:r>
              <a:rPr lang="en-US" sz="1600" b="0" dirty="0" err="1"/>
              <a:t>externo</a:t>
            </a:r>
            <a:r>
              <a:rPr lang="en-US" sz="1600" b="0" dirty="0"/>
              <a:t>, que no </a:t>
            </a:r>
            <a:r>
              <a:rPr lang="en-US" sz="1600" b="0" dirty="0" err="1"/>
              <a:t>puede</a:t>
            </a:r>
            <a:r>
              <a:rPr lang="en-US" sz="1600" b="0" dirty="0"/>
              <a:t> </a:t>
            </a:r>
            <a:r>
              <a:rPr lang="en-US" sz="1600" dirty="0"/>
              <a:t>acceder </a:t>
            </a:r>
            <a:r>
              <a:rPr lang="en-US" sz="1600" dirty="0" err="1"/>
              <a:t>directamente</a:t>
            </a:r>
            <a:endParaRPr lang="en-US" sz="1600" b="0" dirty="0"/>
          </a:p>
          <a:p>
            <a:pPr marL="800100" lvl="1" indent="-342900"/>
            <a:r>
              <a:rPr lang="en-US" sz="1600" i="1" dirty="0" err="1"/>
              <a:t>Genericidad</a:t>
            </a:r>
            <a:r>
              <a:rPr lang="en-US" sz="1600" dirty="0"/>
              <a:t>: </a:t>
            </a:r>
            <a:r>
              <a:rPr lang="en-US" sz="1600" dirty="0" err="1"/>
              <a:t>definidos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función</a:t>
            </a:r>
            <a:r>
              <a:rPr lang="en-US" sz="1600" dirty="0"/>
              <a:t> de </a:t>
            </a:r>
            <a:r>
              <a:rPr lang="en-US" sz="1600"/>
              <a:t>un elemento </a:t>
            </a:r>
            <a:r>
              <a:rPr lang="en-US" sz="1600" dirty="0" err="1"/>
              <a:t>interno</a:t>
            </a:r>
            <a:r>
              <a:rPr lang="en-US" sz="1600" dirty="0"/>
              <a:t> que se </a:t>
            </a:r>
            <a:r>
              <a:rPr lang="en-US" sz="1600" dirty="0" err="1"/>
              <a:t>especifica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la </a:t>
            </a:r>
            <a:r>
              <a:rPr lang="en-US" sz="1600" dirty="0" err="1"/>
              <a:t>creación</a:t>
            </a:r>
            <a:r>
              <a:rPr lang="en-US" sz="1600" dirty="0"/>
              <a:t>. </a:t>
            </a:r>
            <a:r>
              <a:rPr lang="en-US" sz="1600" dirty="0" err="1"/>
              <a:t>Generalmente</a:t>
            </a:r>
            <a:r>
              <a:rPr lang="en-US" sz="1600" dirty="0"/>
              <a:t> </a:t>
            </a:r>
            <a:r>
              <a:rPr lang="en-US" sz="1600" dirty="0" err="1"/>
              <a:t>colecciones</a:t>
            </a:r>
            <a:r>
              <a:rPr lang="en-US" sz="1600" dirty="0"/>
              <a:t> de </a:t>
            </a:r>
            <a:r>
              <a:rPr lang="en-US" sz="1600" dirty="0" err="1"/>
              <a:t>elementos</a:t>
            </a:r>
            <a:r>
              <a:rPr lang="en-US" sz="1600" dirty="0"/>
              <a:t> (cola de personas, cola de </a:t>
            </a:r>
            <a:r>
              <a:rPr lang="en-US" sz="1600" dirty="0" err="1"/>
              <a:t>procesos</a:t>
            </a:r>
            <a:r>
              <a:rPr lang="en-US" sz="1600" dirty="0"/>
              <a:t>…)</a:t>
            </a:r>
          </a:p>
          <a:p>
            <a:pPr marL="800100" lvl="1" indent="-342900"/>
            <a:r>
              <a:rPr lang="en-US" sz="1600" b="0" i="1" dirty="0"/>
              <a:t>Sobre</a:t>
            </a:r>
            <a:r>
              <a:rPr lang="en-US" sz="1600" i="1" dirty="0"/>
              <a:t>carga</a:t>
            </a:r>
            <a:r>
              <a:rPr lang="en-US" sz="1600" dirty="0"/>
              <a:t>: </a:t>
            </a:r>
            <a:r>
              <a:rPr lang="en-US" sz="1600" dirty="0" err="1"/>
              <a:t>subprogramas</a:t>
            </a:r>
            <a:r>
              <a:rPr lang="en-US" sz="1600" dirty="0"/>
              <a:t> con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mismo</a:t>
            </a:r>
            <a:r>
              <a:rPr lang="en-US" sz="1600" dirty="0"/>
              <a:t> </a:t>
            </a:r>
            <a:r>
              <a:rPr lang="en-US" sz="1600" dirty="0" err="1"/>
              <a:t>nombre</a:t>
            </a:r>
            <a:r>
              <a:rPr lang="en-US" sz="1600" dirty="0"/>
              <a:t> </a:t>
            </a:r>
            <a:r>
              <a:rPr lang="en-US" sz="1600" dirty="0" err="1"/>
              <a:t>pero</a:t>
            </a:r>
            <a:r>
              <a:rPr lang="en-US" sz="1600" dirty="0"/>
              <a:t> </a:t>
            </a:r>
            <a:r>
              <a:rPr lang="en-US" sz="1600" dirty="0" err="1"/>
              <a:t>diferencias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comportamiento</a:t>
            </a:r>
            <a:r>
              <a:rPr lang="en-US" sz="1600" dirty="0"/>
              <a:t> y </a:t>
            </a:r>
            <a:r>
              <a:rPr lang="en-US" sz="1600" dirty="0" err="1"/>
              <a:t>número</a:t>
            </a:r>
            <a:r>
              <a:rPr lang="en-US" sz="1600" dirty="0"/>
              <a:t> de </a:t>
            </a:r>
            <a:r>
              <a:rPr lang="en-US" sz="1600" dirty="0" err="1"/>
              <a:t>parámetros</a:t>
            </a:r>
            <a:r>
              <a:rPr lang="en-US" sz="1600" dirty="0"/>
              <a:t>.</a:t>
            </a:r>
            <a:endParaRPr lang="en-US" sz="16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dirty="0"/>
              <a:t>Pascal no da </a:t>
            </a:r>
            <a:r>
              <a:rPr lang="en-US" sz="1800" b="0" dirty="0" err="1"/>
              <a:t>soporte</a:t>
            </a:r>
            <a:r>
              <a:rPr lang="en-US" sz="1800" b="0" dirty="0"/>
              <a:t> a </a:t>
            </a:r>
            <a:r>
              <a:rPr lang="en-US" sz="1800" b="0" dirty="0" err="1"/>
              <a:t>estos</a:t>
            </a:r>
            <a:r>
              <a:rPr lang="en-US" sz="1800" b="0" dirty="0"/>
              <a:t> </a:t>
            </a:r>
            <a:r>
              <a:rPr lang="en-US" sz="1800" b="0" dirty="0" err="1"/>
              <a:t>conceptos</a:t>
            </a:r>
            <a:r>
              <a:rPr lang="en-US" sz="1800" b="0" dirty="0"/>
              <a:t>, </a:t>
            </a:r>
            <a:r>
              <a:rPr lang="en-US" sz="1800" b="0" dirty="0" err="1"/>
              <a:t>por</a:t>
            </a:r>
            <a:r>
              <a:rPr lang="en-US" sz="1800" b="0" dirty="0"/>
              <a:t> lo que </a:t>
            </a:r>
            <a:r>
              <a:rPr lang="en-US" sz="1800" b="0" dirty="0" err="1"/>
              <a:t>el</a:t>
            </a:r>
            <a:r>
              <a:rPr lang="en-US" sz="1800" b="0" dirty="0"/>
              <a:t> </a:t>
            </a:r>
            <a:r>
              <a:rPr lang="en-US" sz="1800" b="0" dirty="0" err="1"/>
              <a:t>usuario</a:t>
            </a:r>
            <a:r>
              <a:rPr lang="en-US" sz="1800" b="0" dirty="0"/>
              <a:t> </a:t>
            </a:r>
            <a:r>
              <a:rPr lang="en-US" sz="1800" b="0" dirty="0" err="1"/>
              <a:t>debe</a:t>
            </a:r>
            <a:r>
              <a:rPr lang="en-US" sz="1800" b="0" dirty="0"/>
              <a:t> </a:t>
            </a:r>
            <a:r>
              <a:rPr lang="en-US" sz="1800" b="0" dirty="0" err="1"/>
              <a:t>tener</a:t>
            </a:r>
            <a:r>
              <a:rPr lang="en-US" sz="1800" b="0" dirty="0"/>
              <a:t> </a:t>
            </a:r>
            <a:r>
              <a:rPr lang="en-US" sz="1800" b="0" dirty="0" err="1"/>
              <a:t>disciplina</a:t>
            </a:r>
            <a:r>
              <a:rPr lang="en-US" sz="1800" b="0" dirty="0"/>
              <a:t> y </a:t>
            </a:r>
            <a:r>
              <a:rPr lang="en-US" sz="1800" b="0" dirty="0" err="1"/>
              <a:t>utilizar</a:t>
            </a:r>
            <a:r>
              <a:rPr lang="en-US" sz="1800" b="0" dirty="0"/>
              <a:t> </a:t>
            </a:r>
            <a:r>
              <a:rPr lang="en-US" sz="1800" b="0" dirty="0" err="1"/>
              <a:t>el</a:t>
            </a:r>
            <a:r>
              <a:rPr lang="en-US" sz="1800" b="0" dirty="0"/>
              <a:t> TAD </a:t>
            </a:r>
            <a:r>
              <a:rPr lang="en-US" sz="1800" b="0" dirty="0" err="1"/>
              <a:t>como</a:t>
            </a:r>
            <a:r>
              <a:rPr lang="en-US" sz="1800" b="0" dirty="0"/>
              <a:t> se indica </a:t>
            </a:r>
            <a:r>
              <a:rPr lang="en-US" sz="1800" b="0" dirty="0" err="1"/>
              <a:t>en</a:t>
            </a:r>
            <a:r>
              <a:rPr lang="en-US" sz="1800" b="0" dirty="0"/>
              <a:t> la </a:t>
            </a:r>
            <a:r>
              <a:rPr lang="en-US" sz="1800" b="0" dirty="0" err="1"/>
              <a:t>interfaz</a:t>
            </a:r>
            <a:r>
              <a:rPr lang="en-US" sz="1800" b="0" dirty="0"/>
              <a:t>, </a:t>
            </a:r>
            <a:r>
              <a:rPr lang="en-US" sz="1800" dirty="0"/>
              <a:t>NUNCA accediendo </a:t>
            </a:r>
            <a:r>
              <a:rPr lang="en-US" sz="1800" dirty="0" err="1"/>
              <a:t>directamente</a:t>
            </a:r>
            <a:r>
              <a:rPr lang="en-US" sz="1800" dirty="0"/>
              <a:t> a sus </a:t>
            </a:r>
            <a:r>
              <a:rPr lang="en-US" sz="1800" dirty="0" err="1"/>
              <a:t>datos</a:t>
            </a:r>
            <a:r>
              <a:rPr lang="en-US" sz="1800" dirty="0"/>
              <a:t> </a:t>
            </a:r>
            <a:r>
              <a:rPr lang="en-US" sz="1800" dirty="0" err="1"/>
              <a:t>internos</a:t>
            </a:r>
            <a:endParaRPr lang="en-US" sz="18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3124833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implementación en Pascal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Para la implementación de tipos abstractos de datos en Pascal utilizaremos las unidades.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Una unidad (UNIT) contiene una parte de interfaz y otra de implementación.</a:t>
            </a:r>
          </a:p>
          <a:p>
            <a:pPr marL="800100" lvl="1" indent="-342900"/>
            <a:r>
              <a:rPr lang="es-ES" b="0" dirty="0"/>
              <a:t>Interfaz pública (visible desde el programa externo)</a:t>
            </a:r>
          </a:p>
          <a:p>
            <a:pPr marL="800100" lvl="1" indent="-342900"/>
            <a:r>
              <a:rPr lang="es-ES" b="0" dirty="0"/>
              <a:t>Implementación privada (no visible desde fuera de la unit)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0" dirty="0"/>
              <a:t>El nombre de la unidad y el del archivo en que se encuentra </a:t>
            </a:r>
            <a:r>
              <a:rPr lang="es-ES" dirty="0"/>
              <a:t>deben ser iguales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808646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implementación en Pascal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7985051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Podemos compilar la unidad como si fuese un programa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/>
              <a:t>Para usar la unidad desde un programa simplemente añadimos la cláusula:</a:t>
            </a:r>
          </a:p>
          <a:p>
            <a:pPr algn="ctr"/>
            <a:r>
              <a:rPr lang="es-ES" dirty="0">
                <a:latin typeface="Consolas" panose="020B0609020204030204" pitchFamily="49" charset="0"/>
              </a:rPr>
              <a:t>USES</a:t>
            </a:r>
            <a:r>
              <a:rPr lang="es-ES" b="0" dirty="0">
                <a:latin typeface="Consolas" panose="020B0609020204030204" pitchFamily="49" charset="0"/>
              </a:rPr>
              <a:t> </a:t>
            </a:r>
            <a:r>
              <a:rPr lang="es-ES" b="0" dirty="0" err="1">
                <a:latin typeface="Consolas" panose="020B0609020204030204" pitchFamily="49" charset="0"/>
              </a:rPr>
              <a:t>nombre_de_la_unidad</a:t>
            </a:r>
            <a:endParaRPr lang="es-ES" b="0" dirty="0"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dirty="0">
                <a:latin typeface="Consolas" panose="020B0609020204030204" pitchFamily="49" charset="0"/>
              </a:rPr>
              <a:t>Uses</a:t>
            </a:r>
            <a:r>
              <a:rPr lang="es-ES" b="0" dirty="0"/>
              <a:t> permite hacer disponible los elementos declarados en la parte pública de la unidad (interfaz)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/>
              <a:t>El fichero…</a:t>
            </a:r>
          </a:p>
          <a:p>
            <a:pPr marL="742950" lvl="1" indent="-285750"/>
            <a:r>
              <a:rPr lang="es-ES" sz="1600" b="0" dirty="0"/>
              <a:t>lo guardamos con el nombre dado a la unidad (extensión .PAS)</a:t>
            </a:r>
            <a:endParaRPr lang="es-ES" sz="1600" dirty="0"/>
          </a:p>
          <a:p>
            <a:pPr marL="742950" lvl="1" indent="-285750"/>
            <a:r>
              <a:rPr lang="es-ES" sz="1600" b="0" dirty="0"/>
              <a:t>lo compilamos para generar un archivo .TPU (Turbo Pascal Unit)</a:t>
            </a:r>
          </a:p>
          <a:p>
            <a:pPr marL="742950" lvl="1" indent="-285750"/>
            <a:r>
              <a:rPr lang="es-ES" sz="1600" b="0" dirty="0"/>
              <a:t>la unidad está ahora accesible</a:t>
            </a:r>
          </a:p>
        </p:txBody>
      </p:sp>
    </p:spTree>
    <p:extLst>
      <p:ext uri="{BB962C8B-B14F-4D97-AF65-F5344CB8AC3E}">
        <p14:creationId xmlns:p14="http://schemas.microsoft.com/office/powerpoint/2010/main" val="1946535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implementación en Pascal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algn="l"/>
            <a:r>
              <a:rPr lang="es-ES" i="0" u="none" strike="noStrike" baseline="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rPr>
              <a:t>Interfaz</a:t>
            </a:r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(contrato) del TAD </a:t>
            </a:r>
            <a:r>
              <a:rPr lang="es-ES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Contador</a:t>
            </a:r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implementado en Pascal:</a:t>
            </a: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Todo lo que aparece en la interfaz podrá ser utilizado por cualquier programa que haga uso de la unidad </a:t>
            </a:r>
            <a:r>
              <a:rPr lang="es-ES" sz="1800" b="0" dirty="0">
                <a:solidFill>
                  <a:srgbClr val="404040"/>
                </a:solidFill>
                <a:latin typeface="Consolas" panose="020B0609020204030204" pitchFamily="49" charset="0"/>
              </a:rPr>
              <a:t>uContador</a:t>
            </a:r>
            <a:endParaRPr lang="es-ES" b="0" dirty="0">
              <a:latin typeface="Consolas" panose="020B06090202040302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411A57-99FB-C90F-B652-949CF2A0B7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479"/>
          <a:stretch/>
        </p:blipFill>
        <p:spPr>
          <a:xfrm>
            <a:off x="2788882" y="1954780"/>
            <a:ext cx="3825021" cy="2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6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implementación en Pascal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algn="l"/>
            <a:r>
              <a:rPr lang="es-ES" sz="1800" i="0" u="none" strike="noStrike" baseline="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rPr>
              <a:t>Implementación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del TAD </a:t>
            </a:r>
            <a:r>
              <a:rPr lang="es-ES" sz="180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Contador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en Pascal:</a:t>
            </a: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EBA7C8-653C-529E-D36E-B111CD30D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468" y="1947344"/>
            <a:ext cx="39052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28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TAD: implementación en Pascal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570" y="1328590"/>
            <a:ext cx="7465326" cy="3755065"/>
          </a:xfrm>
        </p:spPr>
        <p:txBody>
          <a:bodyPr/>
          <a:lstStyle/>
          <a:p>
            <a:pPr algn="l"/>
            <a:endParaRPr lang="es-ES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Ejemplo de uso:</a:t>
            </a: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148F33-2734-85D4-27D5-2106C7F0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437" y="2540952"/>
            <a:ext cx="3315126" cy="243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78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EJERCICIO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6" y="1752600"/>
            <a:ext cx="7140054" cy="37550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algn="l"/>
            <a:r>
              <a:rPr lang="es-ES" b="0" dirty="0"/>
              <a:t>Utilizando como base la implementación del contador: </a:t>
            </a:r>
          </a:p>
          <a:p>
            <a:pPr marL="457200" indent="-457200" algn="l">
              <a:buAutoNum type="alphaLcParenR"/>
            </a:pPr>
            <a:r>
              <a:rPr lang="es-ES" b="0" dirty="0"/>
              <a:t>Definir la interfaz de una unidad </a:t>
            </a:r>
            <a:r>
              <a:rPr lang="es-ES" b="0" dirty="0" err="1">
                <a:latin typeface="Consolas" panose="020B0609020204030204" pitchFamily="49" charset="0"/>
              </a:rPr>
              <a:t>uContadorLimitado</a:t>
            </a:r>
            <a:r>
              <a:rPr lang="es-ES" b="0" dirty="0"/>
              <a:t> con las funciones adicionales (i) establecer un límite máximo tras el cual se pone a cero y (</a:t>
            </a:r>
            <a:r>
              <a:rPr lang="es-ES" b="0" dirty="0" err="1"/>
              <a:t>ii</a:t>
            </a:r>
            <a:r>
              <a:rPr lang="es-ES" b="0" dirty="0"/>
              <a:t>) poder incrementarlo en cualquier número de unidades.  </a:t>
            </a:r>
          </a:p>
          <a:p>
            <a:pPr marL="457200" indent="-457200" algn="l">
              <a:buAutoNum type="alphaLcParenR"/>
            </a:pPr>
            <a:r>
              <a:rPr lang="es-ES" b="0" dirty="0"/>
              <a:t>Implementarlo</a:t>
            </a:r>
          </a:p>
          <a:p>
            <a:pPr marL="342900" indent="-342900"/>
            <a:endParaRPr lang="es-ES" b="0" dirty="0"/>
          </a:p>
          <a:p>
            <a:pPr marL="342900" indent="-342900"/>
            <a:endParaRPr lang="en-U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1643011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EJERCICIO: Solución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algn="l"/>
            <a:r>
              <a:rPr lang="es-ES" sz="1800" i="0" u="none" strike="noStrike" baseline="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rPr>
              <a:t>Interfaz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del TAD </a:t>
            </a:r>
            <a:r>
              <a:rPr lang="es-ES" sz="180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ContadorLimitado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en Pascal:</a:t>
            </a: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D459B4-B82C-3E65-8850-434FF6C30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41" y="1985962"/>
            <a:ext cx="6062517" cy="328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72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EJERCICIO: Solución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1238164-8AC3-47D7-E878-0E84B1691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786" y="1151948"/>
            <a:ext cx="4267586" cy="455410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5E635E4-DD38-AB14-203B-97DF2F07A932}"/>
              </a:ext>
            </a:extLst>
          </p:cNvPr>
          <p:cNvSpPr txBox="1"/>
          <p:nvPr/>
        </p:nvSpPr>
        <p:spPr>
          <a:xfrm>
            <a:off x="606425" y="1082100"/>
            <a:ext cx="468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i="0" u="none" strike="noStrike" baseline="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rPr>
              <a:t>Implementación: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4601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EJERCICIO: Solución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algn="l"/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Uso del TAD </a:t>
            </a:r>
            <a:r>
              <a:rPr lang="es-ES" sz="180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ContadorLimitado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en Pascal:</a:t>
            </a: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Es IDÉNTICO al uso del contador no limitado ¿por qué?</a:t>
            </a:r>
          </a:p>
          <a:p>
            <a:pPr marL="742950" lvl="1" indent="-285750"/>
            <a:r>
              <a:rPr lang="es-ES" sz="1600" b="0" i="1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</a:rPr>
              <a:t>RESPUESTA: Ambos tienen mismo nombre de tipo </a:t>
            </a:r>
            <a:r>
              <a:rPr lang="es-ES" sz="1600" b="0" i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</a:rPr>
              <a:t>e implementan misma interfaz</a:t>
            </a:r>
            <a:endParaRPr lang="es-ES" sz="1600" b="0" i="1" u="none" strike="noStrike" baseline="0" dirty="0">
              <a:solidFill>
                <a:schemeClr val="tx2">
                  <a:lumMod val="40000"/>
                  <a:lumOff val="60000"/>
                </a:schemeClr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3BA8CE-8FD0-0065-4767-B747BC851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322" y="2072925"/>
            <a:ext cx="3227091" cy="253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8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Beneficios del uso de TADs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El </a:t>
            </a:r>
            <a:r>
              <a:rPr lang="en-US" sz="1800" b="0" dirty="0" err="1">
                <a:solidFill>
                  <a:srgbClr val="404040"/>
                </a:solidFill>
                <a:latin typeface="Calibri" panose="020F0502020204030204" pitchFamily="34" charset="0"/>
              </a:rPr>
              <a:t>empleo</a:t>
            </a:r>
            <a:r>
              <a:rPr lang="en-U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 de TADs </a:t>
            </a:r>
            <a:r>
              <a:rPr lang="en-US" sz="1800" b="0" dirty="0" err="1">
                <a:solidFill>
                  <a:srgbClr val="404040"/>
                </a:solidFill>
                <a:latin typeface="Calibri" panose="020F0502020204030204" pitchFamily="34" charset="0"/>
              </a:rPr>
              <a:t>promueve</a:t>
            </a:r>
            <a:r>
              <a:rPr lang="en-U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 la </a:t>
            </a:r>
            <a:r>
              <a:rPr lang="en-US" sz="1800" b="0" dirty="0" err="1">
                <a:solidFill>
                  <a:srgbClr val="404040"/>
                </a:solidFill>
                <a:latin typeface="Calibri" panose="020F0502020204030204" pitchFamily="34" charset="0"/>
              </a:rPr>
              <a:t>separación</a:t>
            </a:r>
            <a:r>
              <a:rPr lang="en-U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 de </a:t>
            </a:r>
            <a:r>
              <a:rPr lang="en-US" sz="1800" b="0" dirty="0" err="1">
                <a:solidFill>
                  <a:srgbClr val="404040"/>
                </a:solidFill>
                <a:latin typeface="Calibri" panose="020F0502020204030204" pitchFamily="34" charset="0"/>
              </a:rPr>
              <a:t>tareas</a:t>
            </a:r>
            <a:r>
              <a:rPr lang="en-U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:</a:t>
            </a:r>
          </a:p>
          <a:p>
            <a:pPr marL="742950" lvl="1" indent="-285750"/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El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programa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que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usa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el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Contador solo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tiene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que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conocer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cómo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se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usa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un Contador (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su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interfaz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) no sus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detalles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de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implementación</a:t>
            </a:r>
            <a:endParaRPr lang="en-US" sz="180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742950" lvl="1" indent="-285750"/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Nuestros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programas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pueden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centrarse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en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su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código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de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negocio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e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ignorar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los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detalles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de las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estructuras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auxiliares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que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manejan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 (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contadores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pilas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diccionarios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404040"/>
                </a:solidFill>
                <a:latin typeface="Calibri" panose="020F0502020204030204" pitchFamily="34" charset="0"/>
              </a:rPr>
              <a:t>árboles</a:t>
            </a: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</a:rPr>
              <a:t>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El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mantenimiento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del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código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se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vuelve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más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simple: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el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código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cliente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no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debería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cambiar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ante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cambios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en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la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implementación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de un TAD.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El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uso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de TADs </a:t>
            </a:r>
            <a:r>
              <a:rPr lang="en-US" sz="1800" b="0" i="0" u="none" strike="noStrike" dirty="0" err="1">
                <a:solidFill>
                  <a:srgbClr val="404040"/>
                </a:solidFill>
                <a:latin typeface="Calibri" panose="020F0502020204030204" pitchFamily="34" charset="0"/>
              </a:rPr>
              <a:t>favorece</a:t>
            </a:r>
            <a:r>
              <a:rPr lang="en-U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 la </a:t>
            </a:r>
            <a:r>
              <a:rPr lang="es-ES" sz="1800" b="0" i="0" u="none" strike="noStrike" dirty="0">
                <a:solidFill>
                  <a:srgbClr val="404040"/>
                </a:solidFill>
                <a:latin typeface="Calibri" panose="020F0502020204030204" pitchFamily="34" charset="0"/>
              </a:rPr>
              <a:t>reutilización de código ya probado y promueve código más legible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Al extremo, la construcción de programas se limitará a interconectar módulos existentes y escribir un poco de código de negocio</a:t>
            </a:r>
            <a:endParaRPr lang="es-ES" sz="1800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185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4" name="Marcador de contenido 6">
            <a:extLst>
              <a:ext uri="{FF2B5EF4-FFF2-40B4-BE49-F238E27FC236}">
                <a16:creationId xmlns:a16="http://schemas.microsoft.com/office/drawing/2014/main" id="{191E3B45-7C60-4599-BE60-E9F648259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592" y="2868079"/>
            <a:ext cx="6520940" cy="2701305"/>
          </a:xfrm>
        </p:spPr>
        <p:txBody>
          <a:bodyPr/>
          <a:lstStyle/>
          <a:p>
            <a:pPr algn="ctr"/>
            <a:r>
              <a:rPr lang="es-ES" altLang="es-ES" sz="5400" dirty="0">
                <a:solidFill>
                  <a:schemeClr val="tx2">
                    <a:lumMod val="75000"/>
                  </a:schemeClr>
                </a:solidFill>
                <a:latin typeface="Gill Sans" charset="0"/>
              </a:rPr>
              <a:t>Ejercicios propuestos</a:t>
            </a: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s-ES" altLang="es-ES" sz="36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9786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 propuesto 1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Especificar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e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implementar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un TAD </a:t>
            </a:r>
            <a:r>
              <a:rPr lang="en-US" sz="1800" i="0" u="none" strike="noStrike" baseline="0" dirty="0">
                <a:solidFill>
                  <a:srgbClr val="7030A0"/>
                </a:solidFill>
                <a:latin typeface="Consolas" panose="020B0609020204030204" pitchFamily="49" charset="0"/>
              </a:rPr>
              <a:t>punto3D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:</a:t>
            </a:r>
          </a:p>
          <a:p>
            <a:pPr marL="742950" lvl="1" indent="-285750"/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Crear el punto con valores dados (por defecto el origen)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Modificar cada coordenada (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setx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sety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setz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)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Obtener el </a:t>
            </a:r>
            <a:r>
              <a:rPr lang="es-ES" sz="1800" dirty="0">
                <a:solidFill>
                  <a:srgbClr val="404040"/>
                </a:solidFill>
                <a:latin typeface="Calibri" panose="020F0502020204030204" pitchFamily="34" charset="0"/>
              </a:rPr>
              <a:t>valor de una coordenada (</a:t>
            </a:r>
            <a:r>
              <a:rPr lang="es-ES" sz="1800" dirty="0" err="1">
                <a:solidFill>
                  <a:srgbClr val="404040"/>
                </a:solidFill>
                <a:latin typeface="Consolas" panose="020B0609020204030204" pitchFamily="49" charset="0"/>
              </a:rPr>
              <a:t>getx</a:t>
            </a:r>
            <a:r>
              <a:rPr lang="es-ES" sz="180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s-ES" sz="1800" dirty="0" err="1">
                <a:solidFill>
                  <a:srgbClr val="404040"/>
                </a:solidFill>
                <a:latin typeface="Consolas" panose="020B0609020204030204" pitchFamily="49" charset="0"/>
              </a:rPr>
              <a:t>gety</a:t>
            </a:r>
            <a:r>
              <a:rPr lang="es-ES" sz="180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s-ES" sz="1800" dirty="0" err="1">
                <a:solidFill>
                  <a:srgbClr val="404040"/>
                </a:solidFill>
                <a:latin typeface="Consolas" panose="020B0609020204030204" pitchFamily="49" charset="0"/>
              </a:rPr>
              <a:t>getz</a:t>
            </a:r>
            <a:r>
              <a:rPr lang="es-ES" sz="1800" dirty="0">
                <a:solidFill>
                  <a:srgbClr val="404040"/>
                </a:solidFill>
                <a:latin typeface="Calibri" panose="020F0502020204030204" pitchFamily="34" charset="0"/>
              </a:rPr>
              <a:t>)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Longitud del vector que va del origen al punto (módulo)</a:t>
            </a:r>
          </a:p>
          <a:p>
            <a:pPr marL="742950" lvl="1" indent="-285750"/>
            <a:r>
              <a:rPr lang="es-ES" sz="180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Distancia a otro punto</a:t>
            </a:r>
            <a:endParaRPr lang="es-ES" sz="1800" b="0" i="0" u="none" strike="noStrike" baseline="0" dirty="0">
              <a:solidFill>
                <a:srgbClr val="404040"/>
              </a:solidFill>
              <a:latin typeface="Consolas" panose="020B0609020204030204" pitchFamily="49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722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 propuesto 2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Especificar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e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implementar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un TAD </a:t>
            </a:r>
            <a:r>
              <a:rPr lang="en-US" sz="1800" i="0" u="none" strike="noStrike" baseline="0" dirty="0" err="1">
                <a:solidFill>
                  <a:srgbClr val="7030A0"/>
                </a:solidFill>
                <a:latin typeface="Consolas" panose="020B0609020204030204" pitchFamily="49" charset="0"/>
              </a:rPr>
              <a:t>cString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que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proporcione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en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Pascal las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siguientes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funcionalidades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:</a:t>
            </a:r>
          </a:p>
          <a:p>
            <a:pPr marL="742950" lvl="1" indent="-285750"/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Crear el </a:t>
            </a:r>
            <a:r>
              <a:rPr lang="es-ES" sz="1800" b="0" i="0" u="none" strike="noStrike" baseline="0" dirty="0" err="1">
                <a:solidFill>
                  <a:srgbClr val="404040"/>
                </a:solidFill>
                <a:latin typeface="Consolas" panose="020B0609020204030204" pitchFamily="49" charset="0"/>
              </a:rPr>
              <a:t>cString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con un cierto tamaño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Darle valor 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Obtener su valor</a:t>
            </a:r>
          </a:p>
          <a:p>
            <a:pPr marL="742950" lvl="1" indent="-285750"/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Obtener 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su longitud (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strlen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) </a:t>
            </a:r>
          </a:p>
          <a:p>
            <a:pPr marL="742950" lvl="1" indent="-285750"/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Obtener su capacidad máxima de almacenamiento (tamaño)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Implementar las funciones más comunes de manejo cadenas </a:t>
            </a:r>
            <a:r>
              <a:rPr lang="es-ES" sz="1800" b="0">
                <a:solidFill>
                  <a:srgbClr val="404040"/>
                </a:solidFill>
                <a:latin typeface="Calibri" panose="020F0502020204030204" pitchFamily="34" charset="0"/>
              </a:rPr>
              <a:t>en el lenguaje 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C: 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strcat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strcpy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strcmp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, 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strlwr</a:t>
            </a:r>
            <a:r>
              <a:rPr lang="es-ES" sz="1800" dirty="0">
                <a:solidFill>
                  <a:srgbClr val="404040"/>
                </a:solidFill>
                <a:latin typeface="Calibri" panose="020F0502020204030204" pitchFamily="34" charset="0"/>
              </a:rPr>
              <a:t> y </a:t>
            </a:r>
            <a:r>
              <a:rPr lang="es-ES" sz="1800" b="0" dirty="0" err="1">
                <a:solidFill>
                  <a:srgbClr val="404040"/>
                </a:solidFill>
                <a:latin typeface="Consolas" panose="020B0609020204030204" pitchFamily="49" charset="0"/>
              </a:rPr>
              <a:t>strupr</a:t>
            </a:r>
            <a:endParaRPr lang="es-ES" sz="1800" b="0" i="0" u="none" strike="noStrike" baseline="0" dirty="0">
              <a:solidFill>
                <a:srgbClr val="404040"/>
              </a:solidFill>
              <a:latin typeface="Consolas" panose="020B0609020204030204" pitchFamily="49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052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 propuesto 3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Especificar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e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implementar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un TAD </a:t>
            </a:r>
            <a:r>
              <a:rPr lang="en-US" sz="1800" i="0" u="none" strike="noStrike" baseline="0" dirty="0" err="1">
                <a:solidFill>
                  <a:srgbClr val="7030A0"/>
                </a:solidFill>
                <a:latin typeface="Consolas" panose="020B0609020204030204" pitchFamily="49" charset="0"/>
              </a:rPr>
              <a:t>complejo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que de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soporte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al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concepto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matemático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número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complejo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:</a:t>
            </a:r>
          </a:p>
          <a:p>
            <a:pPr marL="742950" lvl="1" indent="-285750"/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Crear el 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onsolas" panose="020B0609020204030204" pitchFamily="49" charset="0"/>
              </a:rPr>
              <a:t>complejo</a:t>
            </a:r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con valores dados (por defecto i=0, r=0)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Darle valor a su parte real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Darle valor a su parte imaginaria</a:t>
            </a:r>
          </a:p>
          <a:p>
            <a:pPr marL="742950" lvl="1" indent="-285750"/>
            <a:r>
              <a:rPr lang="es-ES" sz="18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Obtener </a:t>
            </a:r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parte real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Obtener parte imaginaria</a:t>
            </a:r>
          </a:p>
          <a:p>
            <a:pPr marL="742950" lvl="1" indent="-285750"/>
            <a:r>
              <a:rPr lang="es-ES" sz="1800" b="0" dirty="0">
                <a:solidFill>
                  <a:srgbClr val="404040"/>
                </a:solidFill>
                <a:latin typeface="Calibri" panose="020F0502020204030204" pitchFamily="34" charset="0"/>
              </a:rPr>
              <a:t>Implementar las funciones más comunes: </a:t>
            </a:r>
            <a:r>
              <a:rPr lang="es-ES" sz="1800" b="0" dirty="0">
                <a:solidFill>
                  <a:srgbClr val="404040"/>
                </a:solidFill>
                <a:latin typeface="Consolas" panose="020B0609020204030204" pitchFamily="49" charset="0"/>
              </a:rPr>
              <a:t>suma, resta, multiplicación, división, potencia</a:t>
            </a:r>
            <a:endParaRPr lang="es-ES" sz="1800" b="0" i="0" u="none" strike="noStrike" baseline="0" dirty="0">
              <a:solidFill>
                <a:srgbClr val="404040"/>
              </a:solidFill>
              <a:latin typeface="Consolas" panose="020B0609020204030204" pitchFamily="49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597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5856288"/>
            <a:ext cx="9271000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altLang="es-ES" dirty="0">
                <a:solidFill>
                  <a:schemeClr val="bg1"/>
                </a:solidFill>
                <a:latin typeface="Gill Sans" charset="0"/>
              </a:rPr>
              <a:t>	</a:t>
            </a:r>
            <a:r>
              <a:rPr lang="es-ES" altLang="es-ES" sz="3600" dirty="0">
                <a:solidFill>
                  <a:schemeClr val="bg1"/>
                </a:solidFill>
                <a:latin typeface="Gill Sans" charset="0"/>
              </a:rPr>
              <a:t> Ejercicio propuesto 4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s-ES" altLang="es-ES" sz="1400" dirty="0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328590"/>
            <a:ext cx="7700227" cy="375506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Especificar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e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implementar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un TAD </a:t>
            </a:r>
            <a:r>
              <a:rPr lang="en-US" i="0" u="none" strike="noStrike" baseline="0" dirty="0" err="1">
                <a:solidFill>
                  <a:srgbClr val="7030A0"/>
                </a:solidFill>
                <a:latin typeface="Consolas" panose="020B0609020204030204" pitchFamily="49" charset="0"/>
              </a:rPr>
              <a:t>TarjetaCredito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que de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soporte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a las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siguientes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Calibri" panose="020F0502020204030204" pitchFamily="34" charset="0"/>
              </a:rPr>
              <a:t>operaciones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:</a:t>
            </a:r>
          </a:p>
          <a:p>
            <a:pPr marL="742950" lvl="1" indent="-285750"/>
            <a:r>
              <a:rPr lang="es-ES" b="0" i="0" u="none" strike="noStrike" baseline="0">
                <a:solidFill>
                  <a:srgbClr val="404040"/>
                </a:solidFill>
                <a:latin typeface="Calibri" panose="020F0502020204030204" pitchFamily="34" charset="0"/>
              </a:rPr>
              <a:t>Inicializar </a:t>
            </a:r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los datos de una tarjeta para comenzar a operar</a:t>
            </a:r>
          </a:p>
          <a:p>
            <a:pPr marL="742950" lvl="1" indent="-285750"/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Consultar el nombre del titular</a:t>
            </a:r>
          </a:p>
          <a:p>
            <a:pPr marL="742950" lvl="1" indent="-285750"/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Consultar el nombre del banco a cuya cuenta carga</a:t>
            </a:r>
            <a:r>
              <a:rPr lang="es-ES" dirty="0">
                <a:solidFill>
                  <a:srgbClr val="404040"/>
                </a:solidFill>
                <a:latin typeface="Calibri" panose="020F0502020204030204" pitchFamily="34" charset="0"/>
              </a:rPr>
              <a:t> los pagos</a:t>
            </a:r>
          </a:p>
          <a:p>
            <a:pPr marL="742950" lvl="1" indent="-285750"/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Obtener el número de la tarjeta</a:t>
            </a:r>
          </a:p>
          <a:p>
            <a:pPr marL="742950" lvl="1" indent="-285750"/>
            <a:r>
              <a:rPr lang="es-ES" dirty="0">
                <a:solidFill>
                  <a:srgbClr val="404040"/>
                </a:solidFill>
                <a:latin typeface="Calibri" panose="020F0502020204030204" pitchFamily="34" charset="0"/>
              </a:rPr>
              <a:t>Consultar el límite de crédito</a:t>
            </a:r>
          </a:p>
          <a:p>
            <a:pPr marL="742950" lvl="1" indent="-285750"/>
            <a:r>
              <a:rPr lang="es-ES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Consultar el saldo actual de la tarjeta</a:t>
            </a:r>
          </a:p>
          <a:p>
            <a:pPr marL="742950" lvl="1" indent="-285750"/>
            <a:r>
              <a:rPr lang="es-ES" dirty="0">
                <a:solidFill>
                  <a:srgbClr val="404040"/>
                </a:solidFill>
                <a:latin typeface="Calibri" panose="020F0502020204030204" pitchFamily="34" charset="0"/>
              </a:rPr>
              <a:t>Cargar un pago</a:t>
            </a:r>
          </a:p>
          <a:p>
            <a:pPr marL="742950" lvl="1" indent="-285750"/>
            <a:endParaRPr lang="es-ES" sz="1800" b="0" i="0" u="none" strike="noStrike" baseline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dirty="0">
              <a:solidFill>
                <a:srgbClr val="40404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60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enc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70c098cb-c5b6-4fa1-9338-73d4222d41d5">
      <UserInfo xmlns="70c098cb-c5b6-4fa1-9338-73d4222d41d5">
        <DisplayName xmlns="70c098cb-c5b6-4fa1-9338-73d4222d41d5"/>
        <AccountId xmlns="70c098cb-c5b6-4fa1-9338-73d4222d41d5" xsi:nil="true"/>
        <AccountType xmlns="70c098cb-c5b6-4fa1-9338-73d4222d41d5"/>
      </UserInfo>
    </Owner>
    <NotebookType xmlns="70c098cb-c5b6-4fa1-9338-73d4222d41d5" xsi:nil="true"/>
    <IsNotebookLocked xmlns="70c098cb-c5b6-4fa1-9338-73d4222d41d5" xsi:nil="true"/>
    <Students xmlns="70c098cb-c5b6-4fa1-9338-73d4222d41d5">
      <UserInfo xmlns="70c098cb-c5b6-4fa1-9338-73d4222d41d5">
        <DisplayName xmlns="70c098cb-c5b6-4fa1-9338-73d4222d41d5"/>
        <AccountId xmlns="70c098cb-c5b6-4fa1-9338-73d4222d41d5" xsi:nil="true"/>
        <AccountType xmlns="70c098cb-c5b6-4fa1-9338-73d4222d41d5"/>
      </UserInfo>
    </Students>
    <Student_Groups xmlns="70c098cb-c5b6-4fa1-9338-73d4222d41d5">
      <UserInfo xmlns="70c098cb-c5b6-4fa1-9338-73d4222d41d5">
        <DisplayName xmlns="70c098cb-c5b6-4fa1-9338-73d4222d41d5"/>
        <AccountId xmlns="70c098cb-c5b6-4fa1-9338-73d4222d41d5" xsi:nil="true"/>
        <AccountType xmlns="70c098cb-c5b6-4fa1-9338-73d4222d41d5"/>
      </UserInfo>
    </Student_Groups>
    <Templates xmlns="70c098cb-c5b6-4fa1-9338-73d4222d41d5" xsi:nil="true"/>
    <TeamsChannelId xmlns="70c098cb-c5b6-4fa1-9338-73d4222d41d5" xsi:nil="true"/>
    <CultureName xmlns="70c098cb-c5b6-4fa1-9338-73d4222d41d5" xsi:nil="true"/>
    <Self_Registration_Enabled xmlns="70c098cb-c5b6-4fa1-9338-73d4222d41d5" xsi:nil="true"/>
    <Has_Teacher_Only_SectionGroup xmlns="70c098cb-c5b6-4fa1-9338-73d4222d41d5" xsi:nil="true"/>
    <Is_Collaboration_Space_Locked xmlns="70c098cb-c5b6-4fa1-9338-73d4222d41d5" xsi:nil="true"/>
    <Invited_Students xmlns="70c098cb-c5b6-4fa1-9338-73d4222d41d5" xsi:nil="true"/>
    <FolderType xmlns="70c098cb-c5b6-4fa1-9338-73d4222d41d5" xsi:nil="true"/>
    <Teachers xmlns="70c098cb-c5b6-4fa1-9338-73d4222d41d5">
      <UserInfo xmlns="70c098cb-c5b6-4fa1-9338-73d4222d41d5">
        <DisplayName xmlns="70c098cb-c5b6-4fa1-9338-73d4222d41d5"/>
        <AccountId xmlns="70c098cb-c5b6-4fa1-9338-73d4222d41d5" xsi:nil="true"/>
        <AccountType xmlns="70c098cb-c5b6-4fa1-9338-73d4222d41d5"/>
      </UserInfo>
    </Teachers>
    <DefaultSectionNames xmlns="70c098cb-c5b6-4fa1-9338-73d4222d41d5" xsi:nil="true"/>
    <AppVersion xmlns="70c098cb-c5b6-4fa1-9338-73d4222d41d5" xsi:nil="true"/>
    <Invited_Teachers xmlns="70c098cb-c5b6-4fa1-9338-73d4222d41d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2D57FBF3EE77F43A617A8A9B2B0DD66" ma:contentTypeVersion="27" ma:contentTypeDescription="Crear nuevo documento." ma:contentTypeScope="" ma:versionID="630e74fb8189796c59fc021dbccfa80b">
  <xsd:schema xmlns:xsd="http://www.w3.org/2001/XMLSchema" xmlns:xs="http://www.w3.org/2001/XMLSchema" xmlns:p="http://schemas.microsoft.com/office/2006/metadata/properties" xmlns:ns3="70c098cb-c5b6-4fa1-9338-73d4222d41d5" xmlns:ns4="6696ed07-a627-48c8-91ac-39afb17dd8e4" targetNamespace="http://schemas.microsoft.com/office/2006/metadata/properties" ma:root="true" ma:fieldsID="f5a80aec0d70ec61bd7340e8768c7009" ns3:_="" ns4:_="">
    <xsd:import namespace="70c098cb-c5b6-4fa1-9338-73d4222d41d5"/>
    <xsd:import namespace="6696ed07-a627-48c8-91ac-39afb17dd8e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c098cb-c5b6-4fa1-9338-73d4222d41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NotebookType" ma:index="16" nillable="true" ma:displayName="Notebook Type" ma:internalName="NotebookType">
      <xsd:simpleType>
        <xsd:restriction base="dms:Text"/>
      </xsd:simpleType>
    </xsd:element>
    <xsd:element name="FolderType" ma:index="17" nillable="true" ma:displayName="Folder Type" ma:internalName="FolderType">
      <xsd:simpleType>
        <xsd:restriction base="dms:Text"/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msChannelId" ma:index="20" nillable="true" ma:displayName="Teams Channel Id" ma:internalName="TeamsChannelId">
      <xsd:simpleType>
        <xsd:restriction base="dms:Text"/>
      </xsd:simpleType>
    </xsd:element>
    <xsd:element name="Owner" ma:index="2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22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3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4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5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6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7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8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9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0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1" nillable="true" ma:displayName="Is Collaboration Space Locked" ma:internalName="Is_Collaboration_Space_Locked">
      <xsd:simpleType>
        <xsd:restriction base="dms:Boolean"/>
      </xsd:simpleType>
    </xsd:element>
    <xsd:element name="IsNotebookLocked" ma:index="32" nillable="true" ma:displayName="Is Notebook Locked" ma:internalName="IsNotebookLocked">
      <xsd:simpleType>
        <xsd:restriction base="dms:Boolean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6ed07-a627-48c8-91ac-39afb17dd8e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BAAC8B-67A0-40EC-9A40-7EC9B872BBBA}">
  <ds:schemaRefs>
    <ds:schemaRef ds:uri="http://www.w3.org/XML/1998/namespace"/>
    <ds:schemaRef ds:uri="http://schemas.microsoft.com/office/2006/metadata/properties"/>
    <ds:schemaRef ds:uri="http://schemas.microsoft.com/office/infopath/2007/PartnerControls"/>
    <ds:schemaRef ds:uri="6696ed07-a627-48c8-91ac-39afb17dd8e4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70c098cb-c5b6-4fa1-9338-73d4222d41d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01122A9-EA41-4581-B415-12DE6A1ED7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61B599-B5AF-469C-8F34-0AC01569F2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c098cb-c5b6-4fa1-9338-73d4222d41d5"/>
    <ds:schemaRef ds:uri="6696ed07-a627-48c8-91ac-39afb17dd8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Ángulos.thmx</Template>
  <TotalTime>7249</TotalTime>
  <Words>1681</Words>
  <Application>Microsoft Office PowerPoint</Application>
  <PresentationFormat>Presentación en pantalla (4:3)</PresentationFormat>
  <Paragraphs>301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8" baseType="lpstr">
      <vt:lpstr>Arial</vt:lpstr>
      <vt:lpstr>Arial Black</vt:lpstr>
      <vt:lpstr>Calibri</vt:lpstr>
      <vt:lpstr>Consolas</vt:lpstr>
      <vt:lpstr>Gill Sans</vt:lpstr>
      <vt:lpstr>Esencial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 - TADs (URJC)</dc:title>
  <dc:creator>"Sánchez Alonso Salvador" &lt;salvador.sanchez@uah.es&gt;</dc:creator>
  <cp:lastModifiedBy>Sánchez Alonso Salvador</cp:lastModifiedBy>
  <cp:revision>55</cp:revision>
  <dcterms:created xsi:type="dcterms:W3CDTF">2015-06-22T10:41:52Z</dcterms:created>
  <dcterms:modified xsi:type="dcterms:W3CDTF">2025-02-05T17:14:37Z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0x01010052D57FBF3EE77F43A617A8A9B2B0DD66</vt:lpwstr>
  </property>
</Properties>
</file>